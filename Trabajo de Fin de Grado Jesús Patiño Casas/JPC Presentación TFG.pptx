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277" r:id="rId2"/>
    <p:sldId id="272" r:id="rId3"/>
    <p:sldId id="279" r:id="rId4"/>
    <p:sldId id="278" r:id="rId5"/>
    <p:sldId id="261" r:id="rId6"/>
    <p:sldId id="259" r:id="rId7"/>
    <p:sldId id="281" r:id="rId8"/>
    <p:sldId id="282" r:id="rId9"/>
    <p:sldId id="284" r:id="rId10"/>
    <p:sldId id="283" r:id="rId11"/>
    <p:sldId id="285" r:id="rId12"/>
    <p:sldId id="286" r:id="rId13"/>
    <p:sldId id="287" r:id="rId14"/>
    <p:sldId id="292" r:id="rId15"/>
    <p:sldId id="288" r:id="rId16"/>
    <p:sldId id="289" r:id="rId17"/>
    <p:sldId id="290" r:id="rId18"/>
    <p:sldId id="291" r:id="rId19"/>
    <p:sldId id="276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3EF2"/>
    <a:srgbClr val="411848"/>
    <a:srgbClr val="FADAFC"/>
    <a:srgbClr val="A251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4C1A8A3-306A-4EB7-A6B1-4F7E0EB9C5D6}" styleName="Estilo medio 3 - Énfasis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78" autoAdjust="0"/>
    <p:restoredTop sz="94660"/>
  </p:normalViewPr>
  <p:slideViewPr>
    <p:cSldViewPr snapToGrid="0">
      <p:cViewPr varScale="1">
        <p:scale>
          <a:sx n="85" d="100"/>
          <a:sy n="85" d="100"/>
        </p:scale>
        <p:origin x="4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es&#250;s\Downloads\ISLIA_Graficas_Globales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es&#250;s\Downloads\ISLIA_Graficas_Global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1800" b="1" strike="noStrike" spc="-1">
                <a:solidFill>
                  <a:srgbClr val="000000"/>
                </a:solidFill>
                <a:latin typeface="Calibri"/>
              </a:defRPr>
            </a:pPr>
            <a:r>
              <a:rPr lang="es-ES" sz="1800" b="1" strike="noStrike" spc="-1">
                <a:solidFill>
                  <a:srgbClr val="000000"/>
                </a:solidFill>
                <a:latin typeface="Calibri"/>
              </a:rPr>
              <a:t>FC media pre/post sesión (ppm)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Pre sesión</c:v>
          </c:tx>
          <c:spPr>
            <a:ln w="24840">
              <a:solidFill>
                <a:srgbClr val="2E75B6"/>
              </a:solidFill>
              <a:round/>
            </a:ln>
          </c:spPr>
          <c:marker>
            <c:symbol val="circle"/>
            <c:size val="7"/>
            <c:spPr>
              <a:solidFill>
                <a:srgbClr val="2E75B6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'Datos globales'!$K$1080:$K$1083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'Datos globales'!$L$1080:$L$1083</c:f>
              <c:numCache>
                <c:formatCode>General</c:formatCode>
                <c:ptCount val="4"/>
                <c:pt idx="0">
                  <c:v>88.4</c:v>
                </c:pt>
                <c:pt idx="1">
                  <c:v>84.8</c:v>
                </c:pt>
                <c:pt idx="2">
                  <c:v>82</c:v>
                </c:pt>
                <c:pt idx="3">
                  <c:v>77.3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220-413A-811C-B78C329A4E2A}"/>
            </c:ext>
          </c:extLst>
        </c:ser>
        <c:ser>
          <c:idx val="1"/>
          <c:order val="1"/>
          <c:tx>
            <c:v>Post sesión</c:v>
          </c:tx>
          <c:spPr>
            <a:ln w="24840">
              <a:solidFill>
                <a:srgbClr val="E8A838"/>
              </a:solidFill>
              <a:round/>
            </a:ln>
          </c:spPr>
          <c:marker>
            <c:symbol val="diamond"/>
            <c:size val="7"/>
            <c:spPr>
              <a:solidFill>
                <a:srgbClr val="E8A838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'Datos globales'!$K$1080:$K$1083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'Datos globales'!$M$1080:$M$1083</c:f>
              <c:numCache>
                <c:formatCode>General</c:formatCode>
                <c:ptCount val="4"/>
                <c:pt idx="0">
                  <c:v>80.400000000000006</c:v>
                </c:pt>
                <c:pt idx="1">
                  <c:v>76.400000000000006</c:v>
                </c:pt>
                <c:pt idx="2">
                  <c:v>73.099999999999994</c:v>
                </c:pt>
                <c:pt idx="3">
                  <c:v>68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220-413A-811C-B78C329A4E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40392306"/>
        <c:axId val="5089666"/>
      </c:lineChart>
      <c:catAx>
        <c:axId val="40392306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1" strike="noStrike" spc="-1">
                    <a:solidFill>
                      <a:srgbClr val="000000"/>
                    </a:solidFill>
                    <a:latin typeface="Calibri"/>
                  </a:defRPr>
                </a:pPr>
                <a:r>
                  <a:rPr lang="es-ES" sz="1000" b="1" strike="noStrike" spc="-1">
                    <a:solidFill>
                      <a:srgbClr val="000000"/>
                    </a:solidFill>
                    <a:latin typeface="Calibri"/>
                  </a:rPr>
                  <a:t>Sesión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s-ES"/>
          </a:p>
        </c:txPr>
        <c:crossAx val="5089666"/>
        <c:crosses val="autoZero"/>
        <c:auto val="1"/>
        <c:lblAlgn val="ctr"/>
        <c:lblOffset val="100"/>
        <c:noMultiLvlLbl val="0"/>
      </c:catAx>
      <c:valAx>
        <c:axId val="5089666"/>
        <c:scaling>
          <c:orientation val="minMax"/>
          <c:max val="110"/>
          <c:min val="5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s-ES"/>
          </a:p>
        </c:txPr>
        <c:crossAx val="40392306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Calibri"/>
            </a:defRPr>
          </a:pPr>
          <a:endParaRPr lang="es-ES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/>
          <a:lstStyle/>
          <a:p>
            <a:pPr>
              <a:defRPr sz="1800" b="1" strike="noStrike" spc="-1">
                <a:solidFill>
                  <a:srgbClr val="000000"/>
                </a:solidFill>
                <a:latin typeface="Calibri"/>
              </a:defRPr>
            </a:pPr>
            <a:r>
              <a:rPr lang="es-ES" sz="1800" b="1" strike="noStrike" spc="-1">
                <a:solidFill>
                  <a:srgbClr val="000000"/>
                </a:solidFill>
                <a:latin typeface="Calibri"/>
              </a:rPr>
              <a:t>TAS media pre/post sesión (mmHg)</a:t>
            </a:r>
          </a:p>
        </c:rich>
      </c:tx>
      <c:overlay val="0"/>
      <c:spPr>
        <a:noFill/>
        <a:ln w="0">
          <a:noFill/>
        </a:ln>
      </c:sp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Pre sesión</c:v>
          </c:tx>
          <c:spPr>
            <a:ln w="24840">
              <a:solidFill>
                <a:srgbClr val="C0392B"/>
              </a:solidFill>
              <a:round/>
            </a:ln>
          </c:spPr>
          <c:marker>
            <c:symbol val="circle"/>
            <c:size val="7"/>
            <c:spPr>
              <a:solidFill>
                <a:srgbClr val="C0392B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'Datos globales'!$K$1090:$K$1093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'Datos globales'!$L$1090:$L$1093</c:f>
              <c:numCache>
                <c:formatCode>General</c:formatCode>
                <c:ptCount val="4"/>
                <c:pt idx="0">
                  <c:v>139.19999999999999</c:v>
                </c:pt>
                <c:pt idx="1">
                  <c:v>134</c:v>
                </c:pt>
                <c:pt idx="2">
                  <c:v>130.30000000000001</c:v>
                </c:pt>
                <c:pt idx="3">
                  <c:v>124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539-4C4E-A3B5-DA8BB6059D80}"/>
            </c:ext>
          </c:extLst>
        </c:ser>
        <c:ser>
          <c:idx val="1"/>
          <c:order val="1"/>
          <c:tx>
            <c:v>Post sesión</c:v>
          </c:tx>
          <c:spPr>
            <a:ln w="24840">
              <a:solidFill>
                <a:srgbClr val="70AD47"/>
              </a:solidFill>
              <a:round/>
            </a:ln>
          </c:spPr>
          <c:marker>
            <c:symbol val="diamond"/>
            <c:size val="7"/>
            <c:spPr>
              <a:solidFill>
                <a:srgbClr val="70AD47"/>
              </a:solidFill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wrap="none"/>
              <a:lstStyle/>
              <a:p>
                <a:pPr>
                  <a:defRPr sz="1000" b="0" strike="noStrike" spc="-1">
                    <a:solidFill>
                      <a:srgbClr val="000000"/>
                    </a:solidFill>
                    <a:latin typeface="Arial"/>
                  </a:defRPr>
                </a:pPr>
                <a:endParaRPr lang="es-ES"/>
              </a:p>
            </c:txPr>
            <c:dLblPos val="r"/>
            <c:showLegendKey val="0"/>
            <c:showVal val="0"/>
            <c:showCatName val="0"/>
            <c:showSerName val="0"/>
            <c:showPercent val="0"/>
            <c:showBubbleSize val="1"/>
            <c:separator> </c:separator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'Datos globales'!$K$1090:$K$1093</c:f>
              <c:strCache>
                <c:ptCount val="4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</c:strCache>
            </c:strRef>
          </c:cat>
          <c:val>
            <c:numRef>
              <c:f>'Datos globales'!$M$1090:$M$1093</c:f>
              <c:numCache>
                <c:formatCode>General</c:formatCode>
                <c:ptCount val="4"/>
                <c:pt idx="0">
                  <c:v>129.6</c:v>
                </c:pt>
                <c:pt idx="1">
                  <c:v>124.2</c:v>
                </c:pt>
                <c:pt idx="2">
                  <c:v>120.9</c:v>
                </c:pt>
                <c:pt idx="3">
                  <c:v>115.3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F539-4C4E-A3B5-DA8BB6059D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hiLowLines>
          <c:spPr>
            <a:ln w="0">
              <a:noFill/>
            </a:ln>
          </c:spPr>
        </c:hiLowLines>
        <c:marker val="1"/>
        <c:smooth val="0"/>
        <c:axId val="1108648"/>
        <c:axId val="24258014"/>
      </c:lineChart>
      <c:catAx>
        <c:axId val="1108648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1000" b="1" strike="noStrike" spc="-1">
                    <a:solidFill>
                      <a:srgbClr val="000000"/>
                    </a:solidFill>
                    <a:latin typeface="Calibri"/>
                  </a:defRPr>
                </a:pPr>
                <a:r>
                  <a:rPr lang="es-ES" sz="1000" b="1" strike="noStrike" spc="-1">
                    <a:solidFill>
                      <a:srgbClr val="000000"/>
                    </a:solidFill>
                    <a:latin typeface="Calibri"/>
                  </a:rPr>
                  <a:t>Sesión</a:t>
                </a:r>
              </a:p>
            </c:rich>
          </c:tx>
          <c:overlay val="0"/>
          <c:spPr>
            <a:noFill/>
            <a:ln w="0">
              <a:noFill/>
            </a:ln>
          </c:spPr>
        </c:title>
        <c:numFmt formatCode="General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s-ES"/>
          </a:p>
        </c:txPr>
        <c:crossAx val="24258014"/>
        <c:crosses val="autoZero"/>
        <c:auto val="1"/>
        <c:lblAlgn val="ctr"/>
        <c:lblOffset val="100"/>
        <c:noMultiLvlLbl val="0"/>
      </c:catAx>
      <c:valAx>
        <c:axId val="24258014"/>
        <c:scaling>
          <c:orientation val="minMax"/>
          <c:max val="170"/>
          <c:min val="90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sz="1000" b="0" strike="noStrike" spc="-1">
                <a:solidFill>
                  <a:srgbClr val="000000"/>
                </a:solidFill>
                <a:latin typeface="Calibri"/>
              </a:defRPr>
            </a:pPr>
            <a:endParaRPr lang="es-ES"/>
          </a:p>
        </c:txPr>
        <c:crossAx val="1108648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1000" b="0" strike="noStrike" spc="-1">
              <a:solidFill>
                <a:srgbClr val="000000"/>
              </a:solidFill>
              <a:latin typeface="Calibri"/>
            </a:defRPr>
          </a:pPr>
          <a:endParaRPr lang="es-ES"/>
        </a:p>
      </c:txPr>
    </c:legend>
    <c:plotVisOnly val="1"/>
    <c:dispBlanksAs val="gap"/>
    <c:showDLblsOverMax val="1"/>
  </c:chart>
  <c:spPr>
    <a:solidFill>
      <a:srgbClr val="FFFFFF"/>
    </a:solidFill>
    <a:ln w="9360">
      <a:solidFill>
        <a:srgbClr val="D9D9D9"/>
      </a:solidFill>
      <a:round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AADB14-BF2B-47F2-99A6-112312DF2B0C}" type="datetimeFigureOut">
              <a:rPr lang="es-ES" smtClean="0"/>
              <a:t>13/07/2026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BF4FC8-9E2A-45D9-9DDA-337F77426F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1868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C060-46E6-4E7A-81FA-07427571E324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4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2DE7E-2B2E-4E54-9242-C09F9E7D039B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76471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1861-7D9D-43CD-931E-5A0219BFC344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712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93BF2D-FF23-415B-AD60-B01858CA6687}" type="datetime1">
              <a:rPr lang="es-ES" smtClean="0"/>
              <a:t>13/07/2026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0714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A3295-6EEE-41D1-A4B3-E99BF06ACF9F}" type="datetime1">
              <a:rPr lang="es-ES" smtClean="0"/>
              <a:t>13/07/2026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3246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13C4EA-BFC2-4441-BFFD-32A8D3A048E2}" type="datetime1">
              <a:rPr lang="es-ES" smtClean="0"/>
              <a:t>13/07/2026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2165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EF9178-FC03-4240-A666-70F74EE5A0C1}" type="datetime1">
              <a:rPr lang="es-ES" smtClean="0"/>
              <a:t>13/07/2026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8160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2FC6DE-E733-484A-8493-6FF2ABDEE1EB}" type="datetime1">
              <a:rPr lang="es-ES" smtClean="0"/>
              <a:t>13/07/2026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25114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64E04-3160-40BF-9A27-005ABF016476}" type="datetime1">
              <a:rPr lang="es-ES" smtClean="0"/>
              <a:t>13/07/2026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154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CBB75-217C-4CA1-90C4-42C974859826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7902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6B4583-CA50-40EE-B7F9-E4416459E9AC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629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B1F167-B7D5-4999-9C0F-36B4B4584E54}" type="datetime1">
              <a:rPr lang="es-ES" smtClean="0"/>
              <a:t>13/07/2026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54E8DE-EFAA-4938-8988-810D9E622C6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696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963D9-113B-686B-9808-3B981A29A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0A9C9D-162F-F586-0A82-812C987DA1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431" y="1982501"/>
            <a:ext cx="10466894" cy="123481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4803E62-AC1C-918C-3838-294403978E7E}"/>
              </a:ext>
            </a:extLst>
          </p:cNvPr>
          <p:cNvSpPr txBox="1"/>
          <p:nvPr/>
        </p:nvSpPr>
        <p:spPr>
          <a:xfrm>
            <a:off x="4269503" y="4227235"/>
            <a:ext cx="38037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Jesús Patiño Casas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Tutor: Irene Portilla Tamarit</a:t>
            </a: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Cotutor: Daniel Ruiz Fernández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2025-2026</a:t>
            </a:r>
          </a:p>
          <a:p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7D2D5BC-A9D4-05A7-2C60-3788F5A02851}"/>
              </a:ext>
            </a:extLst>
          </p:cNvPr>
          <p:cNvCxnSpPr/>
          <p:nvPr/>
        </p:nvCxnSpPr>
        <p:spPr>
          <a:xfrm flipV="1">
            <a:off x="792584" y="3303663"/>
            <a:ext cx="10570588" cy="9427"/>
          </a:xfrm>
          <a:prstGeom prst="line">
            <a:avLst/>
          </a:prstGeom>
          <a:ln w="38100">
            <a:solidFill>
              <a:srgbClr val="7A3E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823896A4-55F6-1C80-2DB6-35DDFFAA12CE}"/>
              </a:ext>
            </a:extLst>
          </p:cNvPr>
          <p:cNvSpPr txBox="1"/>
          <p:nvPr/>
        </p:nvSpPr>
        <p:spPr>
          <a:xfrm>
            <a:off x="869568" y="3477775"/>
            <a:ext cx="10493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7A3E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 DE FIN DE GRADO</a:t>
            </a:r>
          </a:p>
        </p:txBody>
      </p:sp>
      <p:sp>
        <p:nvSpPr>
          <p:cNvPr id="11" name="Marco 10">
            <a:extLst>
              <a:ext uri="{FF2B5EF4-FFF2-40B4-BE49-F238E27FC236}">
                <a16:creationId xmlns:a16="http://schemas.microsoft.com/office/drawing/2014/main" id="{2A74AFF9-8C8B-0075-EA01-996840F09D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503"/>
            </a:avLst>
          </a:pr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Marco 11">
            <a:extLst>
              <a:ext uri="{FF2B5EF4-FFF2-40B4-BE49-F238E27FC236}">
                <a16:creationId xmlns:a16="http://schemas.microsoft.com/office/drawing/2014/main" id="{6D14660F-CE7C-604C-C64E-56B06752AABC}"/>
              </a:ext>
            </a:extLst>
          </p:cNvPr>
          <p:cNvSpPr/>
          <p:nvPr/>
        </p:nvSpPr>
        <p:spPr>
          <a:xfrm>
            <a:off x="94269" y="103695"/>
            <a:ext cx="11981468" cy="6664750"/>
          </a:xfrm>
          <a:prstGeom prst="frame">
            <a:avLst>
              <a:gd name="adj1" fmla="val 1503"/>
            </a:avLst>
          </a:prstGeom>
          <a:solidFill>
            <a:srgbClr val="A251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Marco 12">
            <a:extLst>
              <a:ext uri="{FF2B5EF4-FFF2-40B4-BE49-F238E27FC236}">
                <a16:creationId xmlns:a16="http://schemas.microsoft.com/office/drawing/2014/main" id="{DA6B6FB1-45CA-A15B-A871-939240F9BEA5}"/>
              </a:ext>
            </a:extLst>
          </p:cNvPr>
          <p:cNvSpPr/>
          <p:nvPr/>
        </p:nvSpPr>
        <p:spPr>
          <a:xfrm>
            <a:off x="188538" y="188536"/>
            <a:ext cx="11792930" cy="6476215"/>
          </a:xfrm>
          <a:prstGeom prst="frame">
            <a:avLst>
              <a:gd name="adj1" fmla="val 1503"/>
            </a:avLst>
          </a:prstGeom>
          <a:solidFill>
            <a:srgbClr val="FADA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32E65045-AC1D-3D63-31F9-01DBC4942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5162" y="6075528"/>
            <a:ext cx="2743200" cy="365125"/>
          </a:xfrm>
        </p:spPr>
        <p:txBody>
          <a:bodyPr/>
          <a:lstStyle/>
          <a:p>
            <a:fld id="{9754E8DE-EFAA-4938-8988-810D9E622C65}" type="slidenum">
              <a:rPr lang="es-ES" sz="2000" smtClean="0">
                <a:latin typeface="Arial" panose="020B0604020202020204" pitchFamily="34" charset="0"/>
                <a:cs typeface="Arial" panose="020B0604020202020204" pitchFamily="34" charset="0"/>
              </a:rPr>
              <a:t>1</a:t>
            </a:fld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7DE8AABA-D05F-7D60-A7A7-CF2CBB83D83C}"/>
              </a:ext>
            </a:extLst>
          </p:cNvPr>
          <p:cNvCxnSpPr/>
          <p:nvPr/>
        </p:nvCxnSpPr>
        <p:spPr>
          <a:xfrm flipH="1">
            <a:off x="2131638" y="885078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6CD94D45-FB46-9B05-3DC4-0E9A9B8AFAD7}"/>
              </a:ext>
            </a:extLst>
          </p:cNvPr>
          <p:cNvCxnSpPr/>
          <p:nvPr/>
        </p:nvCxnSpPr>
        <p:spPr>
          <a:xfrm flipH="1">
            <a:off x="1962178" y="723078"/>
            <a:ext cx="0" cy="288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B9CD4DCA-28E5-295E-B4BC-0B29779B0E43}"/>
              </a:ext>
            </a:extLst>
          </p:cNvPr>
          <p:cNvCxnSpPr/>
          <p:nvPr/>
        </p:nvCxnSpPr>
        <p:spPr>
          <a:xfrm flipH="1">
            <a:off x="2214858" y="1263078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79AD8BD0-A1AA-B8AA-ED14-F9BFB0920EC1}"/>
              </a:ext>
            </a:extLst>
          </p:cNvPr>
          <p:cNvCxnSpPr/>
          <p:nvPr/>
        </p:nvCxnSpPr>
        <p:spPr>
          <a:xfrm flipH="1">
            <a:off x="1961498" y="1515078"/>
            <a:ext cx="0" cy="288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A608B05B-D876-497E-4706-2DE4AE31DB8E}"/>
              </a:ext>
            </a:extLst>
          </p:cNvPr>
          <p:cNvCxnSpPr/>
          <p:nvPr/>
        </p:nvCxnSpPr>
        <p:spPr>
          <a:xfrm flipH="1">
            <a:off x="1437098" y="1263078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7B40AB2A-90D2-AF4B-AD63-48D16CF1DF25}"/>
              </a:ext>
            </a:extLst>
          </p:cNvPr>
          <p:cNvCxnSpPr/>
          <p:nvPr/>
        </p:nvCxnSpPr>
        <p:spPr>
          <a:xfrm>
            <a:off x="1602369" y="885078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50FDB109-A385-83E5-3D66-B930711648EB}"/>
              </a:ext>
            </a:extLst>
          </p:cNvPr>
          <p:cNvCxnSpPr/>
          <p:nvPr/>
        </p:nvCxnSpPr>
        <p:spPr>
          <a:xfrm>
            <a:off x="2141498" y="1439239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56D2B52D-8914-A915-CEA3-842742291736}"/>
              </a:ext>
            </a:extLst>
          </p:cNvPr>
          <p:cNvCxnSpPr/>
          <p:nvPr/>
        </p:nvCxnSpPr>
        <p:spPr>
          <a:xfrm flipH="1">
            <a:off x="1573298" y="1415481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662A9ADA-E6A8-78AE-86DC-C2CAE9ED45C5}"/>
              </a:ext>
            </a:extLst>
          </p:cNvPr>
          <p:cNvCxnSpPr/>
          <p:nvPr/>
        </p:nvCxnSpPr>
        <p:spPr>
          <a:xfrm flipH="1">
            <a:off x="9967323" y="456506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F562AE5C-2066-454B-7B69-38122B25D409}"/>
              </a:ext>
            </a:extLst>
          </p:cNvPr>
          <p:cNvCxnSpPr/>
          <p:nvPr/>
        </p:nvCxnSpPr>
        <p:spPr>
          <a:xfrm flipH="1">
            <a:off x="9797863" y="440306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985CFDE2-1B0A-A1FD-0957-DBCC59D94F90}"/>
              </a:ext>
            </a:extLst>
          </p:cNvPr>
          <p:cNvCxnSpPr/>
          <p:nvPr/>
        </p:nvCxnSpPr>
        <p:spPr>
          <a:xfrm flipH="1">
            <a:off x="10050543" y="494306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4032E63E-18A1-B9A1-0BFF-11121677331E}"/>
              </a:ext>
            </a:extLst>
          </p:cNvPr>
          <p:cNvCxnSpPr/>
          <p:nvPr/>
        </p:nvCxnSpPr>
        <p:spPr>
          <a:xfrm flipH="1">
            <a:off x="9797183" y="519506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BF93881B-0861-91D5-12A0-C49EA0165A58}"/>
              </a:ext>
            </a:extLst>
          </p:cNvPr>
          <p:cNvCxnSpPr/>
          <p:nvPr/>
        </p:nvCxnSpPr>
        <p:spPr>
          <a:xfrm flipH="1">
            <a:off x="9272783" y="494306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8A90E75E-0B8E-FA84-8174-3E29DD64D07D}"/>
              </a:ext>
            </a:extLst>
          </p:cNvPr>
          <p:cNvCxnSpPr/>
          <p:nvPr/>
        </p:nvCxnSpPr>
        <p:spPr>
          <a:xfrm>
            <a:off x="9438054" y="456506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3C0FC5C4-3623-E9B2-BE31-50116CDDB7F8}"/>
              </a:ext>
            </a:extLst>
          </p:cNvPr>
          <p:cNvCxnSpPr/>
          <p:nvPr/>
        </p:nvCxnSpPr>
        <p:spPr>
          <a:xfrm>
            <a:off x="9977183" y="5119230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4ADEE8DA-1255-E2A1-6AD2-FD1CDEDA1BB5}"/>
              </a:ext>
            </a:extLst>
          </p:cNvPr>
          <p:cNvCxnSpPr/>
          <p:nvPr/>
        </p:nvCxnSpPr>
        <p:spPr>
          <a:xfrm flipH="1">
            <a:off x="9408983" y="5095472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2B8F6158-880A-13C7-B89A-C643908477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605" y="334098"/>
            <a:ext cx="3059958" cy="139407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F325846-D229-9938-B86F-2F126BD0F7F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11" y="4110309"/>
            <a:ext cx="1675373" cy="1675373"/>
          </a:xfrm>
          <a:prstGeom prst="rect">
            <a:avLst/>
          </a:prstGeom>
        </p:spPr>
      </p:pic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B79EC51C-8803-29FA-A921-F23E2B65A60C}"/>
              </a:ext>
            </a:extLst>
          </p:cNvPr>
          <p:cNvCxnSpPr/>
          <p:nvPr/>
        </p:nvCxnSpPr>
        <p:spPr>
          <a:xfrm flipH="1">
            <a:off x="7548657" y="88047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D462B231-3259-F455-6921-FBE1DA399AC6}"/>
              </a:ext>
            </a:extLst>
          </p:cNvPr>
          <p:cNvCxnSpPr/>
          <p:nvPr/>
        </p:nvCxnSpPr>
        <p:spPr>
          <a:xfrm flipH="1">
            <a:off x="7379197" y="71847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98F3F65F-C44C-9C5A-14E1-CBD13AEB526D}"/>
              </a:ext>
            </a:extLst>
          </p:cNvPr>
          <p:cNvCxnSpPr/>
          <p:nvPr/>
        </p:nvCxnSpPr>
        <p:spPr>
          <a:xfrm flipH="1">
            <a:off x="7631877" y="125847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84AB961-8849-6EE5-C958-476134EA355D}"/>
              </a:ext>
            </a:extLst>
          </p:cNvPr>
          <p:cNvCxnSpPr/>
          <p:nvPr/>
        </p:nvCxnSpPr>
        <p:spPr>
          <a:xfrm flipH="1">
            <a:off x="7378517" y="151047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DCF7ECD7-5F6B-6B0D-A78D-7A7E3DE73CE8}"/>
              </a:ext>
            </a:extLst>
          </p:cNvPr>
          <p:cNvCxnSpPr/>
          <p:nvPr/>
        </p:nvCxnSpPr>
        <p:spPr>
          <a:xfrm flipH="1">
            <a:off x="6854117" y="125847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7E670E35-A2A7-4C54-D48F-AE87D0EAEF44}"/>
              </a:ext>
            </a:extLst>
          </p:cNvPr>
          <p:cNvCxnSpPr/>
          <p:nvPr/>
        </p:nvCxnSpPr>
        <p:spPr>
          <a:xfrm>
            <a:off x="7019388" y="88047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5D1AAEEF-8BED-9FA8-2391-A58D81169D0B}"/>
              </a:ext>
            </a:extLst>
          </p:cNvPr>
          <p:cNvCxnSpPr/>
          <p:nvPr/>
        </p:nvCxnSpPr>
        <p:spPr>
          <a:xfrm>
            <a:off x="7558517" y="1434640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3EF2F25D-7614-2707-924A-4A30034A7A23}"/>
              </a:ext>
            </a:extLst>
          </p:cNvPr>
          <p:cNvCxnSpPr/>
          <p:nvPr/>
        </p:nvCxnSpPr>
        <p:spPr>
          <a:xfrm flipH="1">
            <a:off x="6990317" y="1410882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550DD44-F232-8BC8-837C-86FCC8030A9F}"/>
              </a:ext>
            </a:extLst>
          </p:cNvPr>
          <p:cNvSpPr txBox="1"/>
          <p:nvPr/>
        </p:nvSpPr>
        <p:spPr>
          <a:xfrm>
            <a:off x="-1947242" y="6258090"/>
            <a:ext cx="610048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dirty="0">
                <a:solidFill>
                  <a:srgbClr val="7A3E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Ingeniería</a:t>
            </a:r>
            <a:r>
              <a:rPr lang="es-ES" sz="1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1000" dirty="0">
                <a:solidFill>
                  <a:srgbClr val="7A3E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Biomédica</a:t>
            </a:r>
          </a:p>
        </p:txBody>
      </p:sp>
    </p:spTree>
    <p:extLst>
      <p:ext uri="{BB962C8B-B14F-4D97-AF65-F5344CB8AC3E}">
        <p14:creationId xmlns:p14="http://schemas.microsoft.com/office/powerpoint/2010/main" val="3543546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2</a:t>
            </a:fld>
            <a:endParaRPr lang="es-ES"/>
          </a:p>
        </p:txBody>
      </p:sp>
      <p:sp>
        <p:nvSpPr>
          <p:cNvPr id="5" name="Triángulo rectángulo 20"/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7" name="Triángulo rectángulo 20"/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8" name="Marcador de número de diapositiva 13"/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2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/>
          <p:cNvSpPr txBox="1"/>
          <p:nvPr/>
        </p:nvSpPr>
        <p:spPr>
          <a:xfrm>
            <a:off x="2905025" y="650703"/>
            <a:ext cx="6381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Interés de la temática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0C4EE2D-5408-EF4B-6025-B5EF57963F87}"/>
              </a:ext>
            </a:extLst>
          </p:cNvPr>
          <p:cNvSpPr/>
          <p:nvPr/>
        </p:nvSpPr>
        <p:spPr>
          <a:xfrm>
            <a:off x="98612" y="1613085"/>
            <a:ext cx="5032533" cy="306486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Rectángulo: esquinas redondeadas 24">
            <a:extLst>
              <a:ext uri="{FF2B5EF4-FFF2-40B4-BE49-F238E27FC236}">
                <a16:creationId xmlns:a16="http://schemas.microsoft.com/office/drawing/2014/main" id="{EB44657E-F6DB-0527-D923-2F0585B5AF84}"/>
              </a:ext>
            </a:extLst>
          </p:cNvPr>
          <p:cNvSpPr/>
          <p:nvPr/>
        </p:nvSpPr>
        <p:spPr>
          <a:xfrm>
            <a:off x="7060855" y="2676496"/>
            <a:ext cx="4960815" cy="306486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8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ISLIA</a:t>
            </a:r>
          </a:p>
        </p:txBody>
      </p: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F3E0D19E-4956-B30F-B1EB-F9992F3F40AC}"/>
              </a:ext>
            </a:extLst>
          </p:cNvPr>
          <p:cNvCxnSpPr>
            <a:cxnSpLocks/>
            <a:stCxn id="11" idx="3"/>
            <a:endCxn id="25" idx="1"/>
          </p:cNvCxnSpPr>
          <p:nvPr/>
        </p:nvCxnSpPr>
        <p:spPr>
          <a:xfrm>
            <a:off x="5131145" y="3145518"/>
            <a:ext cx="1929710" cy="1063411"/>
          </a:xfrm>
          <a:prstGeom prst="bentConnector3">
            <a:avLst/>
          </a:prstGeom>
          <a:ln>
            <a:solidFill>
              <a:srgbClr val="41184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>
            <a:extLst>
              <a:ext uri="{FF2B5EF4-FFF2-40B4-BE49-F238E27FC236}">
                <a16:creationId xmlns:a16="http://schemas.microsoft.com/office/drawing/2014/main" id="{00818BF2-85B5-5E65-4E1E-DE29B1A4F5A1}"/>
              </a:ext>
            </a:extLst>
          </p:cNvPr>
          <p:cNvSpPr txBox="1"/>
          <p:nvPr/>
        </p:nvSpPr>
        <p:spPr>
          <a:xfrm>
            <a:off x="1618129" y="1613085"/>
            <a:ext cx="1855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Problema</a:t>
            </a:r>
            <a:endParaRPr lang="es-ES" sz="2000" b="1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6563AE6-3F5C-D43B-0CC2-7BF9C16AC60C}"/>
              </a:ext>
            </a:extLst>
          </p:cNvPr>
          <p:cNvSpPr txBox="1"/>
          <p:nvPr/>
        </p:nvSpPr>
        <p:spPr>
          <a:xfrm>
            <a:off x="8641845" y="2773587"/>
            <a:ext cx="1855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Solución</a:t>
            </a:r>
            <a:endParaRPr lang="es-ES" sz="2000" b="1" dirty="0"/>
          </a:p>
        </p:txBody>
      </p:sp>
      <p:sp>
        <p:nvSpPr>
          <p:cNvPr id="33" name="Elipse 32">
            <a:extLst>
              <a:ext uri="{FF2B5EF4-FFF2-40B4-BE49-F238E27FC236}">
                <a16:creationId xmlns:a16="http://schemas.microsoft.com/office/drawing/2014/main" id="{CDC46694-D214-07B1-386D-2BF84A3531FE}"/>
              </a:ext>
            </a:extLst>
          </p:cNvPr>
          <p:cNvSpPr/>
          <p:nvPr/>
        </p:nvSpPr>
        <p:spPr>
          <a:xfrm>
            <a:off x="1694461" y="2606923"/>
            <a:ext cx="1514772" cy="96013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3F99075-802F-6425-594C-490D4FEF9EB2}"/>
              </a:ext>
            </a:extLst>
          </p:cNvPr>
          <p:cNvSpPr txBox="1"/>
          <p:nvPr/>
        </p:nvSpPr>
        <p:spPr>
          <a:xfrm>
            <a:off x="1694461" y="2788976"/>
            <a:ext cx="1514772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243.527</a:t>
            </a:r>
          </a:p>
          <a:p>
            <a:pPr algn="ctr"/>
            <a:r>
              <a:rPr lang="es-ES" sz="11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Ingresos UCI/ año</a:t>
            </a:r>
          </a:p>
        </p:txBody>
      </p:sp>
      <p:sp>
        <p:nvSpPr>
          <p:cNvPr id="38" name="Flecha: hacia abajo 37">
            <a:extLst>
              <a:ext uri="{FF2B5EF4-FFF2-40B4-BE49-F238E27FC236}">
                <a16:creationId xmlns:a16="http://schemas.microsoft.com/office/drawing/2014/main" id="{F34CB516-4383-38D7-390B-60B6FF75FA46}"/>
              </a:ext>
            </a:extLst>
          </p:cNvPr>
          <p:cNvSpPr/>
          <p:nvPr/>
        </p:nvSpPr>
        <p:spPr>
          <a:xfrm>
            <a:off x="2357717" y="3567058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0" name="Flecha: hacia abajo 39">
            <a:extLst>
              <a:ext uri="{FF2B5EF4-FFF2-40B4-BE49-F238E27FC236}">
                <a16:creationId xmlns:a16="http://schemas.microsoft.com/office/drawing/2014/main" id="{86FA4467-19DB-17DE-1FCF-9B71931E1623}"/>
              </a:ext>
            </a:extLst>
          </p:cNvPr>
          <p:cNvSpPr/>
          <p:nvPr/>
        </p:nvSpPr>
        <p:spPr>
          <a:xfrm rot="13667386">
            <a:off x="3127406" y="2629100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2" name="Flecha: hacia abajo 41">
            <a:extLst>
              <a:ext uri="{FF2B5EF4-FFF2-40B4-BE49-F238E27FC236}">
                <a16:creationId xmlns:a16="http://schemas.microsoft.com/office/drawing/2014/main" id="{77912096-DA75-A366-B845-D594A263DF94}"/>
              </a:ext>
            </a:extLst>
          </p:cNvPr>
          <p:cNvSpPr/>
          <p:nvPr/>
        </p:nvSpPr>
        <p:spPr>
          <a:xfrm rot="8036454">
            <a:off x="1586814" y="2628234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F70DDC8C-D376-9852-99AC-C1C273E5DF4B}"/>
              </a:ext>
            </a:extLst>
          </p:cNvPr>
          <p:cNvSpPr/>
          <p:nvPr/>
        </p:nvSpPr>
        <p:spPr>
          <a:xfrm>
            <a:off x="1317812" y="3881476"/>
            <a:ext cx="2366682" cy="4722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Ansiedad· Delirium· Miedo</a:t>
            </a: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A6F2B187-731F-D2FB-FEB1-5E7CDBE15477}"/>
              </a:ext>
            </a:extLst>
          </p:cNvPr>
          <p:cNvSpPr/>
          <p:nvPr/>
        </p:nvSpPr>
        <p:spPr>
          <a:xfrm>
            <a:off x="2761326" y="2078348"/>
            <a:ext cx="2223116" cy="4711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Abordaje farmacológico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698B9B4-63E3-6B3F-3B3D-6C76298659D6}"/>
              </a:ext>
            </a:extLst>
          </p:cNvPr>
          <p:cNvSpPr/>
          <p:nvPr/>
        </p:nvSpPr>
        <p:spPr>
          <a:xfrm>
            <a:off x="161662" y="2077583"/>
            <a:ext cx="2339491" cy="4694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14–72% de los pacientes</a:t>
            </a:r>
          </a:p>
        </p:txBody>
      </p:sp>
      <p:sp>
        <p:nvSpPr>
          <p:cNvPr id="49" name="Flecha: hacia abajo 48">
            <a:extLst>
              <a:ext uri="{FF2B5EF4-FFF2-40B4-BE49-F238E27FC236}">
                <a16:creationId xmlns:a16="http://schemas.microsoft.com/office/drawing/2014/main" id="{E7BFDCB0-A1E8-87FA-0599-AE33D569F7CF}"/>
              </a:ext>
            </a:extLst>
          </p:cNvPr>
          <p:cNvSpPr/>
          <p:nvPr/>
        </p:nvSpPr>
        <p:spPr>
          <a:xfrm rot="13667386">
            <a:off x="10069548" y="3754227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Flecha: hacia abajo 50">
            <a:extLst>
              <a:ext uri="{FF2B5EF4-FFF2-40B4-BE49-F238E27FC236}">
                <a16:creationId xmlns:a16="http://schemas.microsoft.com/office/drawing/2014/main" id="{F264904F-275A-64CA-689F-3E38ABF76F3A}"/>
              </a:ext>
            </a:extLst>
          </p:cNvPr>
          <p:cNvSpPr/>
          <p:nvPr/>
        </p:nvSpPr>
        <p:spPr>
          <a:xfrm rot="8036454">
            <a:off x="8824789" y="3757026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Flecha: hacia abajo 52">
            <a:extLst>
              <a:ext uri="{FF2B5EF4-FFF2-40B4-BE49-F238E27FC236}">
                <a16:creationId xmlns:a16="http://schemas.microsoft.com/office/drawing/2014/main" id="{03B653C5-7AB8-1F81-4B70-1A1B58EB4217}"/>
              </a:ext>
            </a:extLst>
          </p:cNvPr>
          <p:cNvSpPr/>
          <p:nvPr/>
        </p:nvSpPr>
        <p:spPr>
          <a:xfrm>
            <a:off x="9447132" y="4550703"/>
            <a:ext cx="188259" cy="25449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CC6DEDA2-D8E2-4928-7960-DA1806305887}"/>
              </a:ext>
            </a:extLst>
          </p:cNvPr>
          <p:cNvSpPr/>
          <p:nvPr/>
        </p:nvSpPr>
        <p:spPr>
          <a:xfrm>
            <a:off x="8471707" y="4972998"/>
            <a:ext cx="2139108" cy="4759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Humaniza el cuidado</a:t>
            </a: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B24629F8-6F3B-E680-9E11-37ECB74E95B9}"/>
              </a:ext>
            </a:extLst>
          </p:cNvPr>
          <p:cNvSpPr/>
          <p:nvPr/>
        </p:nvSpPr>
        <p:spPr>
          <a:xfrm>
            <a:off x="7308024" y="3229652"/>
            <a:ext cx="2139108" cy="4759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Distracción cognitiva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41B677B5-EA52-C830-FEF0-69A294CE3F3B}"/>
              </a:ext>
            </a:extLst>
          </p:cNvPr>
          <p:cNvSpPr/>
          <p:nvPr/>
        </p:nvSpPr>
        <p:spPr>
          <a:xfrm>
            <a:off x="9781640" y="3229652"/>
            <a:ext cx="2139108" cy="47596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8100"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farmacológica</a:t>
            </a:r>
          </a:p>
        </p:txBody>
      </p:sp>
    </p:spTree>
    <p:extLst>
      <p:ext uri="{BB962C8B-B14F-4D97-AF65-F5344CB8AC3E}">
        <p14:creationId xmlns:p14="http://schemas.microsoft.com/office/powerpoint/2010/main" val="2916356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 animBg="1"/>
      <p:bldP spid="29" grpId="0"/>
      <p:bldP spid="31" grpId="0"/>
      <p:bldP spid="33" grpId="0" animBg="1"/>
      <p:bldP spid="35" grpId="0"/>
      <p:bldP spid="38" grpId="0" animBg="1"/>
      <p:bldP spid="40" grpId="0" animBg="1"/>
      <p:bldP spid="42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  <p:bldP spid="54" grpId="0" animBg="1"/>
      <p:bldP spid="56" grpId="0" animBg="1"/>
      <p:bldP spid="5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7C1C3-7FFD-411D-BDB4-2E4B7B9D3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0F4DDF-D457-271E-84AF-5AD137712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3</a:t>
            </a:fld>
            <a:endParaRPr lang="es-ES"/>
          </a:p>
        </p:txBody>
      </p:sp>
      <p:sp>
        <p:nvSpPr>
          <p:cNvPr id="5" name="Triángulo rectángulo 20">
            <a:extLst>
              <a:ext uri="{FF2B5EF4-FFF2-40B4-BE49-F238E27FC236}">
                <a16:creationId xmlns:a16="http://schemas.microsoft.com/office/drawing/2014/main" id="{A5FAFB1B-CC94-3D4B-ABA0-DD28A9CCC677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D4865BF-14B8-4977-5C15-5C5A6851DA51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7" name="Triángulo rectángulo 20">
            <a:extLst>
              <a:ext uri="{FF2B5EF4-FFF2-40B4-BE49-F238E27FC236}">
                <a16:creationId xmlns:a16="http://schemas.microsoft.com/office/drawing/2014/main" id="{0998EA75-DBB8-697C-9ACB-46A8298AFCF8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8" name="Marcador de número de diapositiva 13">
            <a:extLst>
              <a:ext uri="{FF2B5EF4-FFF2-40B4-BE49-F238E27FC236}">
                <a16:creationId xmlns:a16="http://schemas.microsoft.com/office/drawing/2014/main" id="{895042FB-550F-AD43-C994-6EA8FF1186F7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3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14350A-B424-E90B-84C4-B474F49D4EE0}"/>
              </a:ext>
            </a:extLst>
          </p:cNvPr>
          <p:cNvSpPr txBox="1"/>
          <p:nvPr/>
        </p:nvSpPr>
        <p:spPr>
          <a:xfrm>
            <a:off x="2905025" y="650703"/>
            <a:ext cx="63819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ISLIA?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63CC5FF4-03A6-8944-8B26-EAA90132DAA2}"/>
              </a:ext>
            </a:extLst>
          </p:cNvPr>
          <p:cNvSpPr/>
          <p:nvPr/>
        </p:nvSpPr>
        <p:spPr>
          <a:xfrm>
            <a:off x="1636053" y="1589870"/>
            <a:ext cx="9018497" cy="754166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19AE3ED-6031-E3BC-CB08-67839C124BB6}"/>
              </a:ext>
            </a:extLst>
          </p:cNvPr>
          <p:cNvSpPr txBox="1"/>
          <p:nvPr/>
        </p:nvSpPr>
        <p:spPr>
          <a:xfrm>
            <a:off x="1636053" y="1613087"/>
            <a:ext cx="91171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Tratamiento no farmacológico orientado a mejorar el bienestar psicofisiológico del paciente crítico consciente.</a:t>
            </a: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E0EB7144-6C80-3C21-3A8B-8062B1EE4B42}"/>
              </a:ext>
            </a:extLst>
          </p:cNvPr>
          <p:cNvSpPr/>
          <p:nvPr/>
        </p:nvSpPr>
        <p:spPr>
          <a:xfrm>
            <a:off x="1084730" y="3314620"/>
            <a:ext cx="2859741" cy="990257"/>
          </a:xfrm>
          <a:prstGeom prst="ellipse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Flecha: curvada hacia la derecha 11">
            <a:extLst>
              <a:ext uri="{FF2B5EF4-FFF2-40B4-BE49-F238E27FC236}">
                <a16:creationId xmlns:a16="http://schemas.microsoft.com/office/drawing/2014/main" id="{0A0373EA-CFAF-E6D4-20E5-7A467EBA5408}"/>
              </a:ext>
            </a:extLst>
          </p:cNvPr>
          <p:cNvSpPr/>
          <p:nvPr/>
        </p:nvSpPr>
        <p:spPr>
          <a:xfrm>
            <a:off x="340659" y="1882588"/>
            <a:ext cx="681318" cy="2073627"/>
          </a:xfrm>
          <a:prstGeom prst="curvedRightArrow">
            <a:avLst>
              <a:gd name="adj1" fmla="val 19652"/>
              <a:gd name="adj2" fmla="val 50000"/>
              <a:gd name="adj3" fmla="val 25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3EFC55F-F0BC-A102-5CE6-B3608526F2B8}"/>
              </a:ext>
            </a:extLst>
          </p:cNvPr>
          <p:cNvSpPr txBox="1"/>
          <p:nvPr/>
        </p:nvSpPr>
        <p:spPr>
          <a:xfrm>
            <a:off x="654424" y="2599765"/>
            <a:ext cx="3030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Para ello usaremos…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2501AC4-BCC9-E15F-D4AE-B062616165CB}"/>
              </a:ext>
            </a:extLst>
          </p:cNvPr>
          <p:cNvSpPr txBox="1"/>
          <p:nvPr/>
        </p:nvSpPr>
        <p:spPr>
          <a:xfrm>
            <a:off x="1237130" y="3570255"/>
            <a:ext cx="2770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Realidad Virtual Inmersiva</a:t>
            </a:r>
          </a:p>
        </p:txBody>
      </p:sp>
      <p:sp>
        <p:nvSpPr>
          <p:cNvPr id="15" name="Flecha: curvada hacia la derecha 14">
            <a:extLst>
              <a:ext uri="{FF2B5EF4-FFF2-40B4-BE49-F238E27FC236}">
                <a16:creationId xmlns:a16="http://schemas.microsoft.com/office/drawing/2014/main" id="{92936BB3-8B34-C774-687A-17D50B04C245}"/>
              </a:ext>
            </a:extLst>
          </p:cNvPr>
          <p:cNvSpPr/>
          <p:nvPr/>
        </p:nvSpPr>
        <p:spPr>
          <a:xfrm>
            <a:off x="264459" y="3755187"/>
            <a:ext cx="681318" cy="1299751"/>
          </a:xfrm>
          <a:prstGeom prst="curvedRightArrow">
            <a:avLst>
              <a:gd name="adj1" fmla="val 19652"/>
              <a:gd name="adj2" fmla="val 43368"/>
              <a:gd name="adj3" fmla="val 25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864B1660-41A4-B814-BCEF-B83E440FA9AB}"/>
              </a:ext>
            </a:extLst>
          </p:cNvPr>
          <p:cNvSpPr/>
          <p:nvPr/>
        </p:nvSpPr>
        <p:spPr>
          <a:xfrm>
            <a:off x="1021977" y="4498283"/>
            <a:ext cx="2859741" cy="990257"/>
          </a:xfrm>
          <a:prstGeom prst="ellipse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02E6009-917E-9755-6996-718C9C8D4C39}"/>
              </a:ext>
            </a:extLst>
          </p:cNvPr>
          <p:cNvSpPr txBox="1"/>
          <p:nvPr/>
        </p:nvSpPr>
        <p:spPr>
          <a:xfrm>
            <a:off x="1174377" y="4678109"/>
            <a:ext cx="27700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Aplicación distribuida con persistencia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625D391-9E28-2623-8110-E4CC29957AF2}"/>
              </a:ext>
            </a:extLst>
          </p:cNvPr>
          <p:cNvSpPr/>
          <p:nvPr/>
        </p:nvSpPr>
        <p:spPr>
          <a:xfrm>
            <a:off x="7705164" y="3132286"/>
            <a:ext cx="3603810" cy="646332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365F7393-512C-25D9-DC0B-4ACAA9AFA1B9}"/>
              </a:ext>
            </a:extLst>
          </p:cNvPr>
          <p:cNvSpPr txBox="1"/>
          <p:nvPr/>
        </p:nvSpPr>
        <p:spPr>
          <a:xfrm>
            <a:off x="7171764" y="3180365"/>
            <a:ext cx="46795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</a:t>
            </a:r>
            <a:r>
              <a:rPr lang="es-ES" sz="1400" b="1" dirty="0"/>
              <a:t> </a:t>
            </a:r>
            <a:r>
              <a:rPr lang="es-ES" sz="14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USO</a:t>
            </a:r>
          </a:p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Sesiones de 10 minutos cada 48 horas</a:t>
            </a:r>
          </a:p>
          <a:p>
            <a:endParaRPr lang="es-ES" sz="1400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echa: curvada hacia la izquierda 19">
            <a:extLst>
              <a:ext uri="{FF2B5EF4-FFF2-40B4-BE49-F238E27FC236}">
                <a16:creationId xmlns:a16="http://schemas.microsoft.com/office/drawing/2014/main" id="{1986DE7F-65F1-D2C8-6A47-3B1AA75E139F}"/>
              </a:ext>
            </a:extLst>
          </p:cNvPr>
          <p:cNvSpPr/>
          <p:nvPr/>
        </p:nvSpPr>
        <p:spPr>
          <a:xfrm>
            <a:off x="11403107" y="2039490"/>
            <a:ext cx="681317" cy="1553195"/>
          </a:xfrm>
          <a:prstGeom prst="curvedLef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Flecha: hacia abajo 20">
            <a:extLst>
              <a:ext uri="{FF2B5EF4-FFF2-40B4-BE49-F238E27FC236}">
                <a16:creationId xmlns:a16="http://schemas.microsoft.com/office/drawing/2014/main" id="{50E2C328-9AF3-32AB-8E4D-654D2A450569}"/>
              </a:ext>
            </a:extLst>
          </p:cNvPr>
          <p:cNvSpPr/>
          <p:nvPr/>
        </p:nvSpPr>
        <p:spPr>
          <a:xfrm>
            <a:off x="5647765" y="2430281"/>
            <a:ext cx="143435" cy="754166"/>
          </a:xfrm>
          <a:prstGeom prst="down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E63A583-6CBD-D1E0-722F-B10F3A6FCDFF}"/>
              </a:ext>
            </a:extLst>
          </p:cNvPr>
          <p:cNvSpPr/>
          <p:nvPr/>
        </p:nvSpPr>
        <p:spPr>
          <a:xfrm>
            <a:off x="4096871" y="3251072"/>
            <a:ext cx="3263141" cy="1909224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E39522A-09FF-4770-A63D-64D899330332}"/>
              </a:ext>
            </a:extLst>
          </p:cNvPr>
          <p:cNvSpPr txBox="1"/>
          <p:nvPr/>
        </p:nvSpPr>
        <p:spPr>
          <a:xfrm>
            <a:off x="4057641" y="3344414"/>
            <a:ext cx="33415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ESTUDIO PILOTO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Selección de 10 pacientes.</a:t>
            </a:r>
          </a:p>
          <a:p>
            <a:endParaRPr lang="es-ES" sz="1400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Criterios de inclusión y de exclusión.</a:t>
            </a:r>
          </a:p>
          <a:p>
            <a:endParaRPr lang="es-ES" sz="1400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actuación.</a:t>
            </a:r>
          </a:p>
          <a:p>
            <a:endParaRPr lang="es-ES" sz="1400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400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Protocolo de seguridad.</a:t>
            </a:r>
          </a:p>
        </p:txBody>
      </p:sp>
      <p:sp>
        <p:nvSpPr>
          <p:cNvPr id="28" name="Elipse 27">
            <a:extLst>
              <a:ext uri="{FF2B5EF4-FFF2-40B4-BE49-F238E27FC236}">
                <a16:creationId xmlns:a16="http://schemas.microsoft.com/office/drawing/2014/main" id="{0DA6C14E-7E3E-64A5-2AC2-B5FCE4811DA6}"/>
              </a:ext>
            </a:extLst>
          </p:cNvPr>
          <p:cNvSpPr/>
          <p:nvPr/>
        </p:nvSpPr>
        <p:spPr>
          <a:xfrm>
            <a:off x="8247531" y="4568229"/>
            <a:ext cx="2263573" cy="612565"/>
          </a:xfrm>
          <a:prstGeom prst="ellipse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b="1" dirty="0" err="1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CEIm</a:t>
            </a:r>
            <a:r>
              <a:rPr lang="es-ES" dirty="0"/>
              <a:t> </a:t>
            </a:r>
            <a:r>
              <a:rPr lang="es-ES" sz="1400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autorizado</a:t>
            </a:r>
          </a:p>
        </p:txBody>
      </p:sp>
      <p:sp>
        <p:nvSpPr>
          <p:cNvPr id="30" name="Flecha: a la derecha 29">
            <a:extLst>
              <a:ext uri="{FF2B5EF4-FFF2-40B4-BE49-F238E27FC236}">
                <a16:creationId xmlns:a16="http://schemas.microsoft.com/office/drawing/2014/main" id="{C0868729-B9F0-415C-EF0D-6B2C794FE21A}"/>
              </a:ext>
            </a:extLst>
          </p:cNvPr>
          <p:cNvSpPr/>
          <p:nvPr/>
        </p:nvSpPr>
        <p:spPr>
          <a:xfrm>
            <a:off x="7404837" y="4799419"/>
            <a:ext cx="779941" cy="150183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912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10" grpId="0" animBg="1"/>
      <p:bldP spid="12" grpId="0" animBg="1"/>
      <p:bldP spid="13" grpId="0"/>
      <p:bldP spid="14" grpId="0"/>
      <p:bldP spid="15" grpId="0" animBg="1"/>
      <p:bldP spid="16" grpId="0" animBg="1"/>
      <p:bldP spid="17" grpId="0"/>
      <p:bldP spid="18" grpId="0" animBg="1"/>
      <p:bldP spid="19" grpId="0"/>
      <p:bldP spid="20" grpId="0" animBg="1"/>
      <p:bldP spid="21" grpId="0" animBg="1"/>
      <p:bldP spid="22" grpId="0" animBg="1"/>
      <p:bldP spid="26" grpId="0"/>
      <p:bldP spid="28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9B23CF-C782-523A-49B9-E008EB53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>
            <a:extLst>
              <a:ext uri="{FF2B5EF4-FFF2-40B4-BE49-F238E27FC236}">
                <a16:creationId xmlns:a16="http://schemas.microsoft.com/office/drawing/2014/main" id="{C5B516AF-13DD-E56F-0097-F0C8C8EB3AE1}"/>
              </a:ext>
            </a:extLst>
          </p:cNvPr>
          <p:cNvSpPr/>
          <p:nvPr/>
        </p:nvSpPr>
        <p:spPr>
          <a:xfrm>
            <a:off x="4928552" y="2970466"/>
            <a:ext cx="2334894" cy="1274395"/>
          </a:xfrm>
          <a:prstGeom prst="ellipse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s-ES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FB0F1C3-0CFD-1AAB-BEAD-5325568576B5}"/>
              </a:ext>
            </a:extLst>
          </p:cNvPr>
          <p:cNvSpPr txBox="1"/>
          <p:nvPr/>
        </p:nvSpPr>
        <p:spPr>
          <a:xfrm>
            <a:off x="4928552" y="3241646"/>
            <a:ext cx="23348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9ED31BF-3BDE-FCC7-5B2C-A8E022DD0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9249" y="3812583"/>
            <a:ext cx="192928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E75F7CA-6666-8C29-1E54-0753C1F85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4</a:t>
            </a:fld>
            <a:endParaRPr lang="es-ES"/>
          </a:p>
        </p:txBody>
      </p:sp>
      <p:sp>
        <p:nvSpPr>
          <p:cNvPr id="12" name="Triángulo rectángulo 20">
            <a:extLst>
              <a:ext uri="{FF2B5EF4-FFF2-40B4-BE49-F238E27FC236}">
                <a16:creationId xmlns:a16="http://schemas.microsoft.com/office/drawing/2014/main" id="{E447B6AA-6624-128D-7EAE-65C79CC2A1E3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Triángulo rectángulo 20">
            <a:extLst>
              <a:ext uri="{FF2B5EF4-FFF2-40B4-BE49-F238E27FC236}">
                <a16:creationId xmlns:a16="http://schemas.microsoft.com/office/drawing/2014/main" id="{144C2EF6-8FD3-9CA4-0582-C093CFE495C7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5" name="Marcador de número de diapositiva 13">
            <a:extLst>
              <a:ext uri="{FF2B5EF4-FFF2-40B4-BE49-F238E27FC236}">
                <a16:creationId xmlns:a16="http://schemas.microsoft.com/office/drawing/2014/main" id="{B08FBED0-EEBC-ED89-BC88-F832E5DD3E61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6EB7510-4F87-65FB-632E-78FC9323B405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3" name="Flecha derecha 12">
            <a:extLst>
              <a:ext uri="{FF2B5EF4-FFF2-40B4-BE49-F238E27FC236}">
                <a16:creationId xmlns:a16="http://schemas.microsoft.com/office/drawing/2014/main" id="{55F771E5-4E87-2089-43CB-61D96964118D}"/>
              </a:ext>
            </a:extLst>
          </p:cNvPr>
          <p:cNvSpPr/>
          <p:nvPr/>
        </p:nvSpPr>
        <p:spPr>
          <a:xfrm rot="16200000">
            <a:off x="5797667" y="2365768"/>
            <a:ext cx="596663" cy="432619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404164E-5BF5-80A5-46F0-73BA1C006E96}"/>
              </a:ext>
            </a:extLst>
          </p:cNvPr>
          <p:cNvSpPr/>
          <p:nvPr/>
        </p:nvSpPr>
        <p:spPr>
          <a:xfrm>
            <a:off x="792460" y="1350274"/>
            <a:ext cx="10603346" cy="646331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Principal : </a:t>
            </a:r>
            <a:r>
              <a:rPr lang="es-ES" dirty="0">
                <a:solidFill>
                  <a:schemeClr val="tx1"/>
                </a:solidFill>
              </a:rPr>
              <a:t>Diseñar, desarrollar y validar el sistema ISLIA, y evaluar su viabilidad, aceptabilidad, tolerabilidad y seguridad mediante una fase piloto en el Hospital General Universitario Dr. Balmis de Alicante</a:t>
            </a:r>
            <a:r>
              <a:rPr lang="es-ES" dirty="0">
                <a:solidFill>
                  <a:schemeClr val="lt1"/>
                </a:solidFill>
              </a:rPr>
              <a:t>.</a:t>
            </a:r>
          </a:p>
        </p:txBody>
      </p:sp>
      <p:sp>
        <p:nvSpPr>
          <p:cNvPr id="17" name="Flecha derecha 16">
            <a:extLst>
              <a:ext uri="{FF2B5EF4-FFF2-40B4-BE49-F238E27FC236}">
                <a16:creationId xmlns:a16="http://schemas.microsoft.com/office/drawing/2014/main" id="{E803C894-5D95-ED3F-520F-8B915E481576}"/>
              </a:ext>
            </a:extLst>
          </p:cNvPr>
          <p:cNvSpPr/>
          <p:nvPr/>
        </p:nvSpPr>
        <p:spPr>
          <a:xfrm rot="10800000">
            <a:off x="4198269" y="3361472"/>
            <a:ext cx="596663" cy="432619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Flecha derecha 17">
            <a:extLst>
              <a:ext uri="{FF2B5EF4-FFF2-40B4-BE49-F238E27FC236}">
                <a16:creationId xmlns:a16="http://schemas.microsoft.com/office/drawing/2014/main" id="{5E64E0EB-9375-D66B-3E27-F4D781137AA9}"/>
              </a:ext>
            </a:extLst>
          </p:cNvPr>
          <p:cNvSpPr/>
          <p:nvPr/>
        </p:nvSpPr>
        <p:spPr>
          <a:xfrm>
            <a:off x="7397066" y="3361472"/>
            <a:ext cx="596663" cy="432619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Flecha derecha 18">
            <a:extLst>
              <a:ext uri="{FF2B5EF4-FFF2-40B4-BE49-F238E27FC236}">
                <a16:creationId xmlns:a16="http://schemas.microsoft.com/office/drawing/2014/main" id="{3D89BE43-FF1B-EAF1-E261-1978F7A6120A}"/>
              </a:ext>
            </a:extLst>
          </p:cNvPr>
          <p:cNvSpPr/>
          <p:nvPr/>
        </p:nvSpPr>
        <p:spPr>
          <a:xfrm rot="5400000">
            <a:off x="5795802" y="4422705"/>
            <a:ext cx="596663" cy="432619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2B8F0EA-83D4-7F57-4DFE-752703FA3A47}"/>
              </a:ext>
            </a:extLst>
          </p:cNvPr>
          <p:cNvSpPr/>
          <p:nvPr/>
        </p:nvSpPr>
        <p:spPr>
          <a:xfrm>
            <a:off x="203200" y="3082378"/>
            <a:ext cx="3861449" cy="1064245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1: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dirty="0">
                <a:solidFill>
                  <a:schemeClr val="tx1"/>
                </a:solidFill>
              </a:rPr>
              <a:t>Diseñar e implementar un entorno de realidad virtual inmersiva en Unity.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1381157-46E8-4E82-1C1B-9C0E44B22992}"/>
              </a:ext>
            </a:extLst>
          </p:cNvPr>
          <p:cNvSpPr/>
          <p:nvPr/>
        </p:nvSpPr>
        <p:spPr>
          <a:xfrm>
            <a:off x="8127349" y="2798380"/>
            <a:ext cx="3861451" cy="1542303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2: </a:t>
            </a:r>
            <a:r>
              <a:rPr lang="es-ES" dirty="0">
                <a:solidFill>
                  <a:schemeClr val="tx1"/>
                </a:solidFill>
              </a:rPr>
              <a:t>Desarrollar una aplicación distribuida en Node.js con arquitectura cliente-servidor.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1044BAD-1665-7BAF-8F0B-D6DCC62D4C9D}"/>
              </a:ext>
            </a:extLst>
          </p:cNvPr>
          <p:cNvSpPr/>
          <p:nvPr/>
        </p:nvSpPr>
        <p:spPr>
          <a:xfrm>
            <a:off x="3366713" y="5101419"/>
            <a:ext cx="5454839" cy="785712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 3: </a:t>
            </a:r>
            <a:r>
              <a:rPr lang="es-ES" dirty="0">
                <a:solidFill>
                  <a:schemeClr val="tx1"/>
                </a:solidFill>
              </a:rPr>
              <a:t>Describir los cambios observados en variables fisiológicas y psicológicas.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01EA5C80-7EE5-E71E-89C9-35C170B3E0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597" y="4297528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9195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5" grpId="0" animBg="1"/>
      <p:bldP spid="17" grpId="0" animBg="1"/>
      <p:bldP spid="18" grpId="0" animBg="1"/>
      <p:bldP spid="19" grpId="0" animBg="1"/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5</a:t>
            </a:fld>
            <a:endParaRPr lang="es-ES"/>
          </a:p>
        </p:txBody>
      </p:sp>
      <p:sp>
        <p:nvSpPr>
          <p:cNvPr id="19" name="Triángulo rectángulo 20"/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21" name="Triángulo rectángulo 20"/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22" name="Marcador de número de diapositiva 13"/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5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0" y="42264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1600" i="1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Realidad Virtual Inmersiva para el Bienestar Psicofisiológico en Pacientes Críticos sin Ventilación Mecánica</a:t>
            </a:r>
          </a:p>
        </p:txBody>
      </p:sp>
      <p:sp>
        <p:nvSpPr>
          <p:cNvPr id="25" name="CuadroTexto 24"/>
          <p:cNvSpPr txBox="1"/>
          <p:nvPr/>
        </p:nvSpPr>
        <p:spPr>
          <a:xfrm>
            <a:off x="2285814" y="668349"/>
            <a:ext cx="77531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Estructura del proyecto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61312EE8-00F2-6FA7-F0C9-5C94273D53D8}"/>
              </a:ext>
            </a:extLst>
          </p:cNvPr>
          <p:cNvSpPr/>
          <p:nvPr/>
        </p:nvSpPr>
        <p:spPr>
          <a:xfrm>
            <a:off x="681318" y="2008094"/>
            <a:ext cx="2572870" cy="2282337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5B8D88A6-0FAE-AC3F-5A17-056781A0315E}"/>
              </a:ext>
            </a:extLst>
          </p:cNvPr>
          <p:cNvSpPr txBox="1"/>
          <p:nvPr/>
        </p:nvSpPr>
        <p:spPr>
          <a:xfrm>
            <a:off x="797859" y="2073816"/>
            <a:ext cx="233978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</a:t>
            </a:r>
            <a:r>
              <a:rPr lang="es-ES" dirty="0"/>
              <a:t> </a:t>
            </a:r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</a:t>
            </a:r>
          </a:p>
          <a:p>
            <a:endParaRPr lang="es-ES" b="1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Diseño de aplicación de Realidad Virtual ISLIA</a:t>
            </a:r>
          </a:p>
          <a:p>
            <a:endParaRPr lang="es-ES" dirty="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7F62588B-54E5-611B-BAFD-78A12C483908}"/>
              </a:ext>
            </a:extLst>
          </p:cNvPr>
          <p:cNvSpPr/>
          <p:nvPr/>
        </p:nvSpPr>
        <p:spPr>
          <a:xfrm>
            <a:off x="4793878" y="2507753"/>
            <a:ext cx="2572870" cy="2282337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D1956B87-9EEB-06A9-D5AB-1E6FA5FF9E6C}"/>
              </a:ext>
            </a:extLst>
          </p:cNvPr>
          <p:cNvSpPr txBox="1"/>
          <p:nvPr/>
        </p:nvSpPr>
        <p:spPr>
          <a:xfrm>
            <a:off x="4793878" y="2538338"/>
            <a:ext cx="25728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</a:t>
            </a:r>
            <a:r>
              <a:rPr lang="es-ES" dirty="0"/>
              <a:t> </a:t>
            </a:r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</a:t>
            </a:r>
          </a:p>
          <a:p>
            <a:endParaRPr lang="es-ES" b="1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Diseño de aplicación distribuida para recoger los cuestionarios de cara al estudio</a:t>
            </a:r>
          </a:p>
          <a:p>
            <a:endParaRPr lang="es-ES" dirty="0"/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76C1280-9FB2-5CD8-9D57-541B9011761E}"/>
              </a:ext>
            </a:extLst>
          </p:cNvPr>
          <p:cNvSpPr/>
          <p:nvPr/>
        </p:nvSpPr>
        <p:spPr>
          <a:xfrm>
            <a:off x="8736106" y="2002320"/>
            <a:ext cx="2572870" cy="2282337"/>
          </a:xfrm>
          <a:prstGeom prst="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093748DD-1C53-2D35-C9E1-9C3E6DCF66F0}"/>
              </a:ext>
            </a:extLst>
          </p:cNvPr>
          <p:cNvSpPr txBox="1"/>
          <p:nvPr/>
        </p:nvSpPr>
        <p:spPr>
          <a:xfrm>
            <a:off x="8821271" y="2002320"/>
            <a:ext cx="25728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3º</a:t>
            </a:r>
            <a:r>
              <a:rPr lang="es-ES" dirty="0"/>
              <a:t> </a:t>
            </a:r>
            <a:r>
              <a:rPr lang="es-ES" b="1" dirty="0">
                <a:solidFill>
                  <a:srgbClr val="411848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MÓDULO</a:t>
            </a:r>
          </a:p>
          <a:p>
            <a:endParaRPr lang="es-ES" b="1" dirty="0">
              <a:solidFill>
                <a:srgbClr val="41184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Diseño de la persistencia de la aplicación distribuida</a:t>
            </a:r>
          </a:p>
          <a:p>
            <a:endParaRPr lang="es-ES" dirty="0"/>
          </a:p>
        </p:txBody>
      </p:sp>
      <p:cxnSp>
        <p:nvCxnSpPr>
          <p:cNvPr id="7" name="Conector: curvado 6">
            <a:extLst>
              <a:ext uri="{FF2B5EF4-FFF2-40B4-BE49-F238E27FC236}">
                <a16:creationId xmlns:a16="http://schemas.microsoft.com/office/drawing/2014/main" id="{1703225C-A6F7-3481-21EE-CB9E95AFF33B}"/>
              </a:ext>
            </a:extLst>
          </p:cNvPr>
          <p:cNvCxnSpPr>
            <a:cxnSpLocks/>
            <a:stCxn id="29" idx="3"/>
            <a:endCxn id="43" idx="1"/>
          </p:cNvCxnSpPr>
          <p:nvPr/>
        </p:nvCxnSpPr>
        <p:spPr>
          <a:xfrm>
            <a:off x="3254188" y="3149263"/>
            <a:ext cx="1539690" cy="543237"/>
          </a:xfrm>
          <a:prstGeom prst="curvedConnector3">
            <a:avLst>
              <a:gd name="adj1" fmla="val 453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: curvado 9">
            <a:extLst>
              <a:ext uri="{FF2B5EF4-FFF2-40B4-BE49-F238E27FC236}">
                <a16:creationId xmlns:a16="http://schemas.microsoft.com/office/drawing/2014/main" id="{04837D72-EEE5-6CDF-4361-FE50B9A41ADF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7366748" y="3143489"/>
            <a:ext cx="1369358" cy="50543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>
            <a:extLst>
              <a:ext uri="{FF2B5EF4-FFF2-40B4-BE49-F238E27FC236}">
                <a16:creationId xmlns:a16="http://schemas.microsoft.com/office/drawing/2014/main" id="{515612FA-8ACA-AC64-5952-D45A7F81180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519" y="5103866"/>
            <a:ext cx="1731588" cy="971662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812B062-B04E-B722-CC22-7CF1575F15B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59" y="4591714"/>
            <a:ext cx="1731588" cy="90802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54A483B2-3304-C74D-61FE-4B9667BC7D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9968" y="4575941"/>
            <a:ext cx="1644463" cy="7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3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9" grpId="0"/>
      <p:bldP spid="41" grpId="0" animBg="1"/>
      <p:bldP spid="43" grpId="0"/>
      <p:bldP spid="45" grpId="0" animBg="1"/>
      <p:bldP spid="4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6</a:t>
            </a:fld>
            <a:endParaRPr lang="es-ES"/>
          </a:p>
        </p:txBody>
      </p:sp>
      <p:sp>
        <p:nvSpPr>
          <p:cNvPr id="13" name="Triángulo rectángulo 20"/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/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/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/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6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/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Módulo: Aplicación de Realidad Virtual ISLIA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EE97FE0A-449F-61C0-8C0E-2002ADC4E716}"/>
              </a:ext>
            </a:extLst>
          </p:cNvPr>
          <p:cNvSpPr/>
          <p:nvPr/>
        </p:nvSpPr>
        <p:spPr>
          <a:xfrm>
            <a:off x="868218" y="2068945"/>
            <a:ext cx="6289964" cy="3408219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A237CEE-726A-48B7-FFC4-571F264A3F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672" y="2226863"/>
            <a:ext cx="6077056" cy="31059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641143A-905C-682A-9F3F-198561DB3CE0}"/>
              </a:ext>
            </a:extLst>
          </p:cNvPr>
          <p:cNvSpPr/>
          <p:nvPr/>
        </p:nvSpPr>
        <p:spPr>
          <a:xfrm>
            <a:off x="8063345" y="1671782"/>
            <a:ext cx="3454400" cy="4122924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FC006B3-F6B8-8D13-9A87-C954FB15166A}"/>
              </a:ext>
            </a:extLst>
          </p:cNvPr>
          <p:cNvSpPr txBox="1"/>
          <p:nvPr/>
        </p:nvSpPr>
        <p:spPr>
          <a:xfrm>
            <a:off x="8506691" y="2142836"/>
            <a:ext cx="281709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Ecosistema Isleño en 360º.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Desarrollado en </a:t>
            </a:r>
            <a:r>
              <a:rPr lang="es-ES" b="1" dirty="0"/>
              <a:t>Unity 2022 TLS.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Desplegado en </a:t>
            </a:r>
            <a:r>
              <a:rPr lang="es-ES" b="1" dirty="0"/>
              <a:t>Meta Quest 2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Compuesto por ‘</a:t>
            </a:r>
            <a:r>
              <a:rPr lang="es-ES" dirty="0" err="1"/>
              <a:t>Assets</a:t>
            </a:r>
            <a:r>
              <a:rPr lang="es-ES" dirty="0"/>
              <a:t>’.</a:t>
            </a:r>
          </a:p>
        </p:txBody>
      </p:sp>
    </p:spTree>
    <p:extLst>
      <p:ext uri="{BB962C8B-B14F-4D97-AF65-F5344CB8AC3E}">
        <p14:creationId xmlns:p14="http://schemas.microsoft.com/office/powerpoint/2010/main" val="2030234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B77118-A9A2-53B1-2D0F-F8268C1C6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6B424A61-1980-E60B-E572-48EF8312DD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067E42B-CBB2-67F2-8608-02A5FA4CD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7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D836AD13-0E1A-CDE9-1DFC-F1FBEB218035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F7E9224-C6EF-738C-B6A3-B97EE1852D1B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3D545293-EB23-CE9D-A9B0-C202F453ADAC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69AEB953-1430-002C-E8C0-02EB63CFF57D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7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E72A8B-7A99-F02C-7F7E-C64F49EEE2E2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Módulo: Aplicación de Realidad Virtual ISLIA</a:t>
            </a:r>
          </a:p>
        </p:txBody>
      </p:sp>
      <p:sp>
        <p:nvSpPr>
          <p:cNvPr id="3" name="Flecha: doblada 2">
            <a:extLst>
              <a:ext uri="{FF2B5EF4-FFF2-40B4-BE49-F238E27FC236}">
                <a16:creationId xmlns:a16="http://schemas.microsoft.com/office/drawing/2014/main" id="{3B8D52B5-D23F-E8A5-46E9-16EE8A9D4193}"/>
              </a:ext>
            </a:extLst>
          </p:cNvPr>
          <p:cNvSpPr/>
          <p:nvPr/>
        </p:nvSpPr>
        <p:spPr>
          <a:xfrm rot="5400000">
            <a:off x="8879346" y="747788"/>
            <a:ext cx="487965" cy="1996183"/>
          </a:xfrm>
          <a:prstGeom prst="bentArrow">
            <a:avLst>
              <a:gd name="adj1" fmla="val 13643"/>
              <a:gd name="adj2" fmla="val 25000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Flecha: doblada 3">
            <a:extLst>
              <a:ext uri="{FF2B5EF4-FFF2-40B4-BE49-F238E27FC236}">
                <a16:creationId xmlns:a16="http://schemas.microsoft.com/office/drawing/2014/main" id="{0682335F-B306-7263-AB88-1E5312898186}"/>
              </a:ext>
            </a:extLst>
          </p:cNvPr>
          <p:cNvSpPr/>
          <p:nvPr/>
        </p:nvSpPr>
        <p:spPr>
          <a:xfrm rot="16200000" flipH="1">
            <a:off x="2939657" y="673511"/>
            <a:ext cx="487963" cy="2226118"/>
          </a:xfrm>
          <a:prstGeom prst="bentArrow">
            <a:avLst>
              <a:gd name="adj1" fmla="val 13676"/>
              <a:gd name="adj2" fmla="val 25000"/>
              <a:gd name="adj3" fmla="val 25000"/>
              <a:gd name="adj4" fmla="val 34286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070877C-38DE-A031-1F96-5B3C7A3E800D}"/>
              </a:ext>
            </a:extLst>
          </p:cNvPr>
          <p:cNvSpPr/>
          <p:nvPr/>
        </p:nvSpPr>
        <p:spPr>
          <a:xfrm>
            <a:off x="433639" y="2255471"/>
            <a:ext cx="4072804" cy="3589245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Vegetación (&gt;40 palmeras), mobiliario de playa y objetos decorativos.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Sistema de agua animada con cámara de reflexión en tiempo real.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Iluminación direccional y </a:t>
            </a:r>
            <a:r>
              <a:rPr lang="es-ES" dirty="0" err="1">
                <a:solidFill>
                  <a:schemeClr val="tx1"/>
                </a:solidFill>
              </a:rPr>
              <a:t>postprocesado</a:t>
            </a:r>
            <a:r>
              <a:rPr lang="es-ES" dirty="0">
                <a:solidFill>
                  <a:schemeClr val="tx1"/>
                </a:solidFill>
              </a:rPr>
              <a:t> global. 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6876BB-A42D-784C-6044-858C51B53760}"/>
              </a:ext>
            </a:extLst>
          </p:cNvPr>
          <p:cNvSpPr txBox="1"/>
          <p:nvPr/>
        </p:nvSpPr>
        <p:spPr>
          <a:xfrm>
            <a:off x="1116493" y="2357410"/>
            <a:ext cx="270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ELEMENTOS ESTÁTICOS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F823F0E1-D972-837B-BDFB-3EE1334F35D9}"/>
              </a:ext>
            </a:extLst>
          </p:cNvPr>
          <p:cNvSpPr/>
          <p:nvPr/>
        </p:nvSpPr>
        <p:spPr>
          <a:xfrm>
            <a:off x="7685558" y="2226863"/>
            <a:ext cx="4072804" cy="3589245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Personajes humanos y embarcaciones en movimiento continuo.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Lógica implementada mediante scripts propios en C#.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</a:rPr>
              <a:t>Uso de </a:t>
            </a:r>
            <a:r>
              <a:rPr lang="es-ES" dirty="0" err="1">
                <a:solidFill>
                  <a:schemeClr val="tx1"/>
                </a:solidFill>
              </a:rPr>
              <a:t>NavMeshAgent</a:t>
            </a:r>
            <a:r>
              <a:rPr lang="es-ES" dirty="0">
                <a:solidFill>
                  <a:schemeClr val="tx1"/>
                </a:solidFill>
              </a:rPr>
              <a:t> para navegación autónoma por </a:t>
            </a:r>
            <a:r>
              <a:rPr lang="es-ES" dirty="0" err="1">
                <a:solidFill>
                  <a:schemeClr val="tx1"/>
                </a:solidFill>
              </a:rPr>
              <a:t>waypoints</a:t>
            </a:r>
            <a:r>
              <a:rPr lang="es-ES" dirty="0">
                <a:solidFill>
                  <a:schemeClr val="tx1"/>
                </a:solidFill>
              </a:rPr>
              <a:t>. 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D3F11BB-99B7-D7B4-774B-1788F584CEF2}"/>
              </a:ext>
            </a:extLst>
          </p:cNvPr>
          <p:cNvSpPr txBox="1"/>
          <p:nvPr/>
        </p:nvSpPr>
        <p:spPr>
          <a:xfrm>
            <a:off x="8368412" y="2331111"/>
            <a:ext cx="2707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ELEMENTOS DINÁMICOS</a:t>
            </a:r>
          </a:p>
        </p:txBody>
      </p: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55E54045-7A02-D0AB-6CD2-523AFA53BDE6}"/>
              </a:ext>
            </a:extLst>
          </p:cNvPr>
          <p:cNvCxnSpPr/>
          <p:nvPr/>
        </p:nvCxnSpPr>
        <p:spPr>
          <a:xfrm>
            <a:off x="6031342" y="1542588"/>
            <a:ext cx="0" cy="712883"/>
          </a:xfrm>
          <a:prstGeom prst="lin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9D73316-CFB9-CADA-08EC-62AF2B094410}"/>
              </a:ext>
            </a:extLst>
          </p:cNvPr>
          <p:cNvCxnSpPr/>
          <p:nvPr/>
        </p:nvCxnSpPr>
        <p:spPr>
          <a:xfrm>
            <a:off x="6031339" y="2489315"/>
            <a:ext cx="0" cy="712883"/>
          </a:xfrm>
          <a:prstGeom prst="lin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F5F35879-7586-0029-08BA-F8549E9FEFF8}"/>
              </a:ext>
            </a:extLst>
          </p:cNvPr>
          <p:cNvCxnSpPr/>
          <p:nvPr/>
        </p:nvCxnSpPr>
        <p:spPr>
          <a:xfrm>
            <a:off x="6045197" y="3429000"/>
            <a:ext cx="0" cy="712883"/>
          </a:xfrm>
          <a:prstGeom prst="lin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5FCBA539-4253-F113-780B-E715DD396679}"/>
              </a:ext>
            </a:extLst>
          </p:cNvPr>
          <p:cNvCxnSpPr/>
          <p:nvPr/>
        </p:nvCxnSpPr>
        <p:spPr>
          <a:xfrm>
            <a:off x="6045198" y="4338782"/>
            <a:ext cx="0" cy="712883"/>
          </a:xfrm>
          <a:prstGeom prst="lin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9" name="Conector recto 28">
            <a:extLst>
              <a:ext uri="{FF2B5EF4-FFF2-40B4-BE49-F238E27FC236}">
                <a16:creationId xmlns:a16="http://schemas.microsoft.com/office/drawing/2014/main" id="{BD6DB436-1906-30DE-5078-5121E5B3468F}"/>
              </a:ext>
            </a:extLst>
          </p:cNvPr>
          <p:cNvCxnSpPr/>
          <p:nvPr/>
        </p:nvCxnSpPr>
        <p:spPr>
          <a:xfrm>
            <a:off x="6045200" y="5362645"/>
            <a:ext cx="0" cy="712883"/>
          </a:xfrm>
          <a:prstGeom prst="line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31" name="Imagen 30">
            <a:extLst>
              <a:ext uri="{FF2B5EF4-FFF2-40B4-BE49-F238E27FC236}">
                <a16:creationId xmlns:a16="http://schemas.microsoft.com/office/drawing/2014/main" id="{38539FF9-6B94-DB4F-A641-BFCB6FC15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048" y="2205074"/>
            <a:ext cx="1203005" cy="744579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0454D0CA-FA9E-7583-7D04-C0D839F5D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048" y="3426219"/>
            <a:ext cx="1203005" cy="912563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6ACCDEF6-A1BF-0BC4-0588-85E7955A6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048" y="4879028"/>
            <a:ext cx="1203005" cy="799898"/>
          </a:xfrm>
          <a:prstGeom prst="rect">
            <a:avLst/>
          </a:prstGeom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E4C84E38-0E5D-8EC8-FA5B-AFA77B00C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5074" y="2211293"/>
            <a:ext cx="1203006" cy="745070"/>
          </a:xfrm>
          <a:prstGeom prst="rect">
            <a:avLst/>
          </a:prstGeom>
        </p:spPr>
      </p:pic>
      <p:pic>
        <p:nvPicPr>
          <p:cNvPr id="39" name="Imagen 38">
            <a:extLst>
              <a:ext uri="{FF2B5EF4-FFF2-40B4-BE49-F238E27FC236}">
                <a16:creationId xmlns:a16="http://schemas.microsoft.com/office/drawing/2014/main" id="{9FEC00A2-A14F-B328-B490-0C07BD1D37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5074" y="3446978"/>
            <a:ext cx="1203006" cy="912563"/>
          </a:xfrm>
          <a:prstGeom prst="rect">
            <a:avLst/>
          </a:prstGeom>
        </p:spPr>
      </p:pic>
      <p:pic>
        <p:nvPicPr>
          <p:cNvPr id="41" name="Imagen 40">
            <a:extLst>
              <a:ext uri="{FF2B5EF4-FFF2-40B4-BE49-F238E27FC236}">
                <a16:creationId xmlns:a16="http://schemas.microsoft.com/office/drawing/2014/main" id="{722F1008-993F-467C-2780-7D61E96257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071" y="4880785"/>
            <a:ext cx="1203005" cy="832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671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9" grpId="0" animBg="1"/>
      <p:bldP spid="18" grpId="0"/>
      <p:bldP spid="20" grpId="0" animBg="1"/>
      <p:bldP spid="2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81C8A-7510-D806-109C-FCBB50E05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D8D8B712-A260-553F-FA2B-D3CD7D9C14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8E8F270-E62F-EB7D-0960-00CAB7688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8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8E3F4FCF-41D8-F77C-7A88-0B572C7058FD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EF521F5-E784-D1BD-AF9F-AC45361D9DC2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27C73305-7A2C-F9DD-E8D3-E0ABE76300A4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E7F30AF8-E67C-630A-A19E-DB89339DBE52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8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79E3D2-F833-B6D1-E7AE-245DC18292BB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 Módulo: Aplicación distribuida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0E3CD7-F748-26C1-3708-7E9FFB22A161}"/>
              </a:ext>
            </a:extLst>
          </p:cNvPr>
          <p:cNvSpPr txBox="1"/>
          <p:nvPr/>
        </p:nvSpPr>
        <p:spPr>
          <a:xfrm>
            <a:off x="0" y="1597739"/>
            <a:ext cx="5588000" cy="307777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PARTE: Aplicación enfermería</a:t>
            </a: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F34C669E-DA1A-7299-59CC-30D7F16C4646}"/>
              </a:ext>
            </a:extLst>
          </p:cNvPr>
          <p:cNvSpPr/>
          <p:nvPr/>
        </p:nvSpPr>
        <p:spPr>
          <a:xfrm flipV="1">
            <a:off x="167377" y="1920750"/>
            <a:ext cx="285205" cy="739322"/>
          </a:xfrm>
          <a:prstGeom prst="bentArrow">
            <a:avLst>
              <a:gd name="adj1" fmla="val 16522"/>
              <a:gd name="adj2" fmla="val 25000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2FBA5D0-8DBE-DC4A-E61D-463AFBCC7BB5}"/>
              </a:ext>
            </a:extLst>
          </p:cNvPr>
          <p:cNvSpPr/>
          <p:nvPr/>
        </p:nvSpPr>
        <p:spPr>
          <a:xfrm>
            <a:off x="481413" y="2609564"/>
            <a:ext cx="3654271" cy="258200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EF1D17BD-5A70-E082-DA38-D19245CE23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159" y="2609564"/>
            <a:ext cx="3566525" cy="24244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BC8DE23-046C-3DBB-6ADD-93557ACAEE9F}"/>
              </a:ext>
            </a:extLst>
          </p:cNvPr>
          <p:cNvSpPr/>
          <p:nvPr/>
        </p:nvSpPr>
        <p:spPr>
          <a:xfrm>
            <a:off x="4563125" y="1920750"/>
            <a:ext cx="3454400" cy="4122924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B83D97C-5198-C363-0C8F-1F1D808405C0}"/>
              </a:ext>
            </a:extLst>
          </p:cNvPr>
          <p:cNvSpPr txBox="1"/>
          <p:nvPr/>
        </p:nvSpPr>
        <p:spPr>
          <a:xfrm>
            <a:off x="4870958" y="2289431"/>
            <a:ext cx="28170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Aplicación dedicada a pasar cuestionarios a los pacientes.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Desarrollado con tecnología </a:t>
            </a:r>
            <a:r>
              <a:rPr lang="es-ES" b="1" dirty="0"/>
              <a:t>node.js </a:t>
            </a:r>
            <a:r>
              <a:rPr lang="es-ES" dirty="0"/>
              <a:t>con servidor REST</a:t>
            </a:r>
            <a:r>
              <a:rPr lang="es-ES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Servidor con llamada a base de datos. </a:t>
            </a: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Despliegue a partir del uso de Apache </a:t>
            </a:r>
            <a:r>
              <a:rPr lang="es-ES" dirty="0" err="1"/>
              <a:t>Cordova</a:t>
            </a:r>
            <a:r>
              <a:rPr lang="es-ES" dirty="0"/>
              <a:t>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A523DAD-3405-2057-2823-E1B4CDBD2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4137"/>
          <a:stretch>
            <a:fillRect/>
          </a:stretch>
        </p:blipFill>
        <p:spPr>
          <a:xfrm>
            <a:off x="9416758" y="679611"/>
            <a:ext cx="1850433" cy="41229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A400E763-0DDC-3602-13DD-04AA6A5E5ECC}"/>
              </a:ext>
            </a:extLst>
          </p:cNvPr>
          <p:cNvCxnSpPr>
            <a:cxnSpLocks/>
            <a:endCxn id="34" idx="1"/>
          </p:cNvCxnSpPr>
          <p:nvPr/>
        </p:nvCxnSpPr>
        <p:spPr>
          <a:xfrm rot="5400000" flipH="1" flipV="1">
            <a:off x="7426688" y="2812466"/>
            <a:ext cx="2061462" cy="1918678"/>
          </a:xfrm>
          <a:prstGeom prst="curvedConnector2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655185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2" grpId="0" animBg="1"/>
      <p:bldP spid="3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7EA8F-27F6-1CBC-07F8-11261ED8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7C212ED4-DB87-A060-623E-8FDD9DFA0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26ECEFF6-12A7-3B11-AB61-4A05C57C7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9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800CC822-D403-49B5-6803-9D49468F04D9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21B2CB3-04AC-3CE4-AEAD-5C92394CC6C1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893B717A-4D08-CABC-9A71-3E7932DE945A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A600FF39-3CEC-D72E-3013-3C6DA59697B1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9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B1BF4BE-C889-A1E3-5A4C-4F1725718D4A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 Módulo: Aplicación distribuida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FA758BB-4E58-461C-9BC3-2C6AF532E48F}"/>
              </a:ext>
            </a:extLst>
          </p:cNvPr>
          <p:cNvSpPr txBox="1"/>
          <p:nvPr/>
        </p:nvSpPr>
        <p:spPr>
          <a:xfrm>
            <a:off x="0" y="1597739"/>
            <a:ext cx="5588000" cy="307777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PARTE: Aplicación enfermería</a:t>
            </a: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6240F16C-39DD-A85B-3295-F316CD22E91B}"/>
              </a:ext>
            </a:extLst>
          </p:cNvPr>
          <p:cNvSpPr/>
          <p:nvPr/>
        </p:nvSpPr>
        <p:spPr>
          <a:xfrm flipV="1">
            <a:off x="167377" y="1920750"/>
            <a:ext cx="285205" cy="739322"/>
          </a:xfrm>
          <a:prstGeom prst="bentArrow">
            <a:avLst>
              <a:gd name="adj1" fmla="val 16522"/>
              <a:gd name="adj2" fmla="val 25000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466F8C00-5EB7-47CA-B6D8-1A74155E2213}"/>
              </a:ext>
            </a:extLst>
          </p:cNvPr>
          <p:cNvSpPr/>
          <p:nvPr/>
        </p:nvSpPr>
        <p:spPr>
          <a:xfrm>
            <a:off x="5305425" y="1851713"/>
            <a:ext cx="6048375" cy="385569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D85AEF41-2DFD-9947-3763-E7361AF17FC0}"/>
              </a:ext>
            </a:extLst>
          </p:cNvPr>
          <p:cNvSpPr/>
          <p:nvPr/>
        </p:nvSpPr>
        <p:spPr>
          <a:xfrm>
            <a:off x="452581" y="2882210"/>
            <a:ext cx="4700443" cy="3086462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97F7CD5-0994-9354-E3F2-673C373C9992}"/>
              </a:ext>
            </a:extLst>
          </p:cNvPr>
          <p:cNvSpPr txBox="1"/>
          <p:nvPr/>
        </p:nvSpPr>
        <p:spPr>
          <a:xfrm>
            <a:off x="452582" y="2453240"/>
            <a:ext cx="1470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BF556569-05AD-4DA4-CA13-C3F543EB5F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76701" b="12725"/>
          <a:stretch>
            <a:fillRect/>
          </a:stretch>
        </p:blipFill>
        <p:spPr>
          <a:xfrm>
            <a:off x="640590" y="3212699"/>
            <a:ext cx="1426965" cy="256172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72AA21E-5D88-A0C5-51FD-035314BD35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3651" b="12725"/>
          <a:stretch>
            <a:fillRect/>
          </a:stretch>
        </p:blipFill>
        <p:spPr>
          <a:xfrm>
            <a:off x="3430935" y="3199228"/>
            <a:ext cx="1616796" cy="2566491"/>
          </a:xfrm>
          <a:prstGeom prst="rect">
            <a:avLst/>
          </a:prstGeom>
        </p:spPr>
      </p:pic>
      <p:sp>
        <p:nvSpPr>
          <p:cNvPr id="27" name="Elipse 26">
            <a:extLst>
              <a:ext uri="{FF2B5EF4-FFF2-40B4-BE49-F238E27FC236}">
                <a16:creationId xmlns:a16="http://schemas.microsoft.com/office/drawing/2014/main" id="{AE3DFEF6-5570-F461-2F65-299C23C58BEF}"/>
              </a:ext>
            </a:extLst>
          </p:cNvPr>
          <p:cNvSpPr/>
          <p:nvPr/>
        </p:nvSpPr>
        <p:spPr>
          <a:xfrm>
            <a:off x="2142581" y="4236439"/>
            <a:ext cx="1213328" cy="514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EEBD392D-82E3-17FC-2F88-F5C200B270DA}"/>
              </a:ext>
            </a:extLst>
          </p:cNvPr>
          <p:cNvSpPr txBox="1"/>
          <p:nvPr/>
        </p:nvSpPr>
        <p:spPr>
          <a:xfrm>
            <a:off x="2142581" y="4354698"/>
            <a:ext cx="1470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A9986560-410F-E13C-7A0F-79BC21BD6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5632" y="2182012"/>
            <a:ext cx="5189024" cy="3037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289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7" grpId="0" animBg="1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9DD2-ED72-CFE9-6653-E72D517AB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28DE5421-9CC1-3AA4-A914-1D76191FD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15FEB4A6-5AD0-FBB6-331D-FFA1EEB7A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10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514B4058-6D65-18BC-241E-3C7516121E56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D3349D5-6F7D-9EDB-86D0-24300C62B567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DAB7056F-1E97-FCAB-4A1B-E9010EE8E45C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C8FFC236-6585-85F8-3EE1-91EFD08384B7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10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6BD8B30-2882-3442-F502-CD17684D9D62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 Módulo: Aplicación distribuida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86DC210-2109-2FD4-20FB-91D6EF87E890}"/>
              </a:ext>
            </a:extLst>
          </p:cNvPr>
          <p:cNvSpPr txBox="1"/>
          <p:nvPr/>
        </p:nvSpPr>
        <p:spPr>
          <a:xfrm>
            <a:off x="0" y="1597739"/>
            <a:ext cx="5588000" cy="307777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 PARTE: Portal del investigador</a:t>
            </a: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819B41C5-2C9B-0A32-3D3F-CC9C2C4A60DD}"/>
              </a:ext>
            </a:extLst>
          </p:cNvPr>
          <p:cNvSpPr/>
          <p:nvPr/>
        </p:nvSpPr>
        <p:spPr>
          <a:xfrm flipV="1">
            <a:off x="167377" y="1920750"/>
            <a:ext cx="285205" cy="739322"/>
          </a:xfrm>
          <a:prstGeom prst="bentArrow">
            <a:avLst>
              <a:gd name="adj1" fmla="val 16522"/>
              <a:gd name="adj2" fmla="val 25000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02D16359-DFC8-C8DE-03BC-4CB31F59A9C9}"/>
              </a:ext>
            </a:extLst>
          </p:cNvPr>
          <p:cNvSpPr/>
          <p:nvPr/>
        </p:nvSpPr>
        <p:spPr>
          <a:xfrm>
            <a:off x="481413" y="2609564"/>
            <a:ext cx="3654271" cy="258200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B34114F9-5F2E-2A21-A2CE-AD91318A20FD}"/>
              </a:ext>
            </a:extLst>
          </p:cNvPr>
          <p:cNvSpPr/>
          <p:nvPr/>
        </p:nvSpPr>
        <p:spPr>
          <a:xfrm>
            <a:off x="4563125" y="1920750"/>
            <a:ext cx="3454400" cy="4122924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51EF6D75-D565-9CA5-6C5C-9747AAD5110E}"/>
              </a:ext>
            </a:extLst>
          </p:cNvPr>
          <p:cNvSpPr txBox="1"/>
          <p:nvPr/>
        </p:nvSpPr>
        <p:spPr>
          <a:xfrm>
            <a:off x="4881779" y="2105210"/>
            <a:ext cx="281709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Aplicación dedicada a visualizar los resultados de los pacientes.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Desarrollado con tecnología </a:t>
            </a:r>
            <a:r>
              <a:rPr lang="es-ES" b="1" dirty="0"/>
              <a:t>node.js </a:t>
            </a:r>
            <a:r>
              <a:rPr lang="es-ES" dirty="0"/>
              <a:t>con servidor RPC</a:t>
            </a:r>
            <a:r>
              <a:rPr lang="es-ES" b="1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Servidor con llamada a base de datos. </a:t>
            </a: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Con este portal se puede estudiar si los pacientes mejoran.</a:t>
            </a:r>
          </a:p>
        </p:txBody>
      </p:sp>
      <p:cxnSp>
        <p:nvCxnSpPr>
          <p:cNvPr id="38" name="Conector: curvado 37">
            <a:extLst>
              <a:ext uri="{FF2B5EF4-FFF2-40B4-BE49-F238E27FC236}">
                <a16:creationId xmlns:a16="http://schemas.microsoft.com/office/drawing/2014/main" id="{13FFA489-DE10-B053-CC25-2AF36619625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7426688" y="2812466"/>
            <a:ext cx="2061462" cy="1918678"/>
          </a:xfrm>
          <a:prstGeom prst="curvedConnector2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ED00314E-4925-B0B4-38BB-B3EAA46F71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191" y="2680742"/>
            <a:ext cx="3540713" cy="231222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EE6D0B1-82FD-03DB-84F0-BFA9F39C6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3920" y="2382663"/>
            <a:ext cx="5580888" cy="101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442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9" grpId="0" animBg="1"/>
      <p:bldP spid="22" grpId="0" animBg="1"/>
      <p:bldP spid="3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E937-50A8-DCB6-3C89-D160E4C29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18A74B62-A9F7-59F8-52D9-0ED5956BC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BC90D48-1C85-90CB-3868-2AA12BAB1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11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C1713385-9509-393A-521B-BE786AB1371E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92116C2-A04D-E280-7522-23893EA271B2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CFEC1CC7-2F69-A958-D466-4175D78AA786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EAD48B78-5E1D-11CE-B2FA-5183DEDEF08A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11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BC581A6-5E7B-13A6-73E5-316C0D189BF1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2º Módulo: Aplicación distribuida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3448015-9003-799B-4DED-07B3E96D8E91}"/>
              </a:ext>
            </a:extLst>
          </p:cNvPr>
          <p:cNvSpPr txBox="1"/>
          <p:nvPr/>
        </p:nvSpPr>
        <p:spPr>
          <a:xfrm>
            <a:off x="0" y="1597739"/>
            <a:ext cx="5588000" cy="307777"/>
          </a:xfrm>
          <a:prstGeom prst="rect">
            <a:avLst/>
          </a:prstGeom>
          <a:ln>
            <a:noFill/>
          </a:ln>
          <a:effectLst>
            <a:softEdge rad="112500"/>
          </a:effectLst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1º PARTE: Aplicación enfermería</a:t>
            </a:r>
          </a:p>
        </p:txBody>
      </p:sp>
      <p:sp>
        <p:nvSpPr>
          <p:cNvPr id="8" name="Flecha: doblada 7">
            <a:extLst>
              <a:ext uri="{FF2B5EF4-FFF2-40B4-BE49-F238E27FC236}">
                <a16:creationId xmlns:a16="http://schemas.microsoft.com/office/drawing/2014/main" id="{58C06390-B577-39C9-1202-3D93C351111E}"/>
              </a:ext>
            </a:extLst>
          </p:cNvPr>
          <p:cNvSpPr/>
          <p:nvPr/>
        </p:nvSpPr>
        <p:spPr>
          <a:xfrm flipV="1">
            <a:off x="167377" y="1920750"/>
            <a:ext cx="285205" cy="739322"/>
          </a:xfrm>
          <a:prstGeom prst="bentArrow">
            <a:avLst>
              <a:gd name="adj1" fmla="val 16522"/>
              <a:gd name="adj2" fmla="val 25000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73FEE9CF-2F79-FF3F-ED15-DF575C859894}"/>
              </a:ext>
            </a:extLst>
          </p:cNvPr>
          <p:cNvSpPr/>
          <p:nvPr/>
        </p:nvSpPr>
        <p:spPr>
          <a:xfrm>
            <a:off x="5305425" y="1851713"/>
            <a:ext cx="6048375" cy="3855696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Rectángulo: esquinas redondeadas 21">
            <a:extLst>
              <a:ext uri="{FF2B5EF4-FFF2-40B4-BE49-F238E27FC236}">
                <a16:creationId xmlns:a16="http://schemas.microsoft.com/office/drawing/2014/main" id="{49FFDE05-2249-2F88-F369-D01319622EC6}"/>
              </a:ext>
            </a:extLst>
          </p:cNvPr>
          <p:cNvSpPr/>
          <p:nvPr/>
        </p:nvSpPr>
        <p:spPr>
          <a:xfrm>
            <a:off x="452581" y="2882210"/>
            <a:ext cx="4700443" cy="3086462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85899A5-A17A-CA88-9294-1700F01D17B0}"/>
              </a:ext>
            </a:extLst>
          </p:cNvPr>
          <p:cNvSpPr txBox="1"/>
          <p:nvPr/>
        </p:nvSpPr>
        <p:spPr>
          <a:xfrm>
            <a:off x="452582" y="2453240"/>
            <a:ext cx="1470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CLIENTE</a:t>
            </a: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91C6D363-1352-538D-DE8C-17501EC4F73B}"/>
              </a:ext>
            </a:extLst>
          </p:cNvPr>
          <p:cNvSpPr/>
          <p:nvPr/>
        </p:nvSpPr>
        <p:spPr>
          <a:xfrm>
            <a:off x="702962" y="4168318"/>
            <a:ext cx="1213328" cy="514245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9D36CC7E-8D03-8643-49E8-71863829E57A}"/>
              </a:ext>
            </a:extLst>
          </p:cNvPr>
          <p:cNvSpPr txBox="1"/>
          <p:nvPr/>
        </p:nvSpPr>
        <p:spPr>
          <a:xfrm>
            <a:off x="673248" y="4271269"/>
            <a:ext cx="14705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FUNCIONES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2FF16C9-F7C0-8CF2-D330-8A07FD7C3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-867" r="66896" b="15258"/>
          <a:stretch>
            <a:fillRect/>
          </a:stretch>
        </p:blipFill>
        <p:spPr>
          <a:xfrm>
            <a:off x="2416497" y="3256556"/>
            <a:ext cx="2057932" cy="219885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8D10FF6-DA22-1789-8C60-2378F2F72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346" y="2182208"/>
            <a:ext cx="5212532" cy="306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2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 animBg="1"/>
      <p:bldP spid="27" grpId="0" animBg="1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3CA1A-88F3-5B87-9B54-B27F5F13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C64E4336-F540-6A78-D5C3-8B6E6F5A5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95EE998-C465-AF7D-A1E3-6CEC5B8F7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12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EC3E0BC7-84F6-7C02-C692-D33657AF2E88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DDE3B23-40E5-B82A-B917-E45E6919115A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4F44AC6B-27F2-9A66-CDFC-2EE09B7308FE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3424CCBE-910A-1455-F083-0CA14586C458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12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52FE7C9-FB62-5FDA-132A-21121C0A5FD7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3º Módulo: Diseño de persistencia ISLIA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8C79B972-0EBA-0059-0EF3-72BA0FE8BB10}"/>
              </a:ext>
            </a:extLst>
          </p:cNvPr>
          <p:cNvSpPr/>
          <p:nvPr/>
        </p:nvSpPr>
        <p:spPr>
          <a:xfrm>
            <a:off x="347241" y="1759352"/>
            <a:ext cx="7150839" cy="4456253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6EC7F381-4204-C2AD-16E2-3ABD5B1CA1D0}"/>
              </a:ext>
            </a:extLst>
          </p:cNvPr>
          <p:cNvSpPr/>
          <p:nvPr/>
        </p:nvSpPr>
        <p:spPr>
          <a:xfrm>
            <a:off x="8063345" y="1671782"/>
            <a:ext cx="3454400" cy="4122924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55639B5B-0DFD-1222-37A4-C60C973A941F}"/>
              </a:ext>
            </a:extLst>
          </p:cNvPr>
          <p:cNvSpPr txBox="1"/>
          <p:nvPr/>
        </p:nvSpPr>
        <p:spPr>
          <a:xfrm>
            <a:off x="8381999" y="1851713"/>
            <a:ext cx="2817091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Modelo con una estructura jerárquica de dos niveles.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Integra </a:t>
            </a:r>
            <a:r>
              <a:rPr lang="es-ES" b="1" dirty="0"/>
              <a:t>Apache, MySQL y PHP.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dirty="0"/>
              <a:t>Implementado mediante una base de datos relacional </a:t>
            </a:r>
            <a:r>
              <a:rPr lang="es-ES" b="1" dirty="0"/>
              <a:t>MySQL</a:t>
            </a:r>
            <a:r>
              <a:rPr lang="es-ES" dirty="0"/>
              <a:t> gestionada a través de </a:t>
            </a:r>
            <a:r>
              <a:rPr lang="es-ES" b="1" dirty="0"/>
              <a:t>XAMPP.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7FC2321-5958-2388-55C0-0A343EF6BE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916" y="1849034"/>
            <a:ext cx="6747961" cy="417814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040329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21B2F-AD42-D8C7-5A5F-E9FF8C070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FD32491A-4716-C761-71FE-E44695FF2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AF482F2-619A-1878-6D91-EA09BE6CD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13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791149E8-7F0C-445E-66C7-EDABD914212B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407E38A-96CC-50BD-B468-5861F6FF9070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16464263-C8A5-860F-E585-B5F4D853D1D2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FC29A4EC-C765-F1F1-D937-7BD533C7A5B7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13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9FA2C91-2AF3-7D9C-9BCE-6310D526A887}"/>
              </a:ext>
            </a:extLst>
          </p:cNvPr>
          <p:cNvSpPr txBox="1"/>
          <p:nvPr/>
        </p:nvSpPr>
        <p:spPr>
          <a:xfrm>
            <a:off x="2070579" y="889329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07B31B3-DC91-B582-6E0E-D09CD6607885}"/>
              </a:ext>
            </a:extLst>
          </p:cNvPr>
          <p:cNvSpPr/>
          <p:nvPr/>
        </p:nvSpPr>
        <p:spPr>
          <a:xfrm>
            <a:off x="2070579" y="1806551"/>
            <a:ext cx="3231855" cy="3856027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DA0107BA-1E2A-9A5A-11C0-1BBBBF5C1796}"/>
              </a:ext>
            </a:extLst>
          </p:cNvPr>
          <p:cNvSpPr/>
          <p:nvPr/>
        </p:nvSpPr>
        <p:spPr>
          <a:xfrm>
            <a:off x="5876926" y="1890819"/>
            <a:ext cx="5248276" cy="3538720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0D599D0-C5F8-EA06-F659-165A651CC8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926" y="1966490"/>
            <a:ext cx="2698453" cy="359793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4F70E38D-927B-FEA1-E604-A84728DE53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0186" y="2009521"/>
            <a:ext cx="4401755" cy="33013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402859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9E98-287C-9561-7868-775108EB6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135C8270-6A2E-6371-55D3-A28A7362B1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9258632-C037-43D9-FA88-0F33B9CE6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14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03D3E044-C5BC-66FA-1792-12EF0153D01A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4096F8C-BFF8-80EF-027F-3ABC2379D009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F075911D-CC05-64E1-4767-929F809387E8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6F00F82B-0962-208E-8A7F-77905DF5C91E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14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C2BDF0D-ED9E-0F08-75EE-BF314564B36C}"/>
              </a:ext>
            </a:extLst>
          </p:cNvPr>
          <p:cNvSpPr txBox="1"/>
          <p:nvPr/>
        </p:nvSpPr>
        <p:spPr>
          <a:xfrm>
            <a:off x="714529" y="913554"/>
            <a:ext cx="107629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EVALUACIÓN/ ESTUDIO DE LA MEJORÍA DE LOS PACIENTES</a:t>
            </a:r>
          </a:p>
        </p:txBody>
      </p:sp>
      <p:sp>
        <p:nvSpPr>
          <p:cNvPr id="3" name="Flecha: doblada hacia arriba 2">
            <a:extLst>
              <a:ext uri="{FF2B5EF4-FFF2-40B4-BE49-F238E27FC236}">
                <a16:creationId xmlns:a16="http://schemas.microsoft.com/office/drawing/2014/main" id="{2BD61453-8688-FE80-0C1A-12F80339417B}"/>
              </a:ext>
            </a:extLst>
          </p:cNvPr>
          <p:cNvSpPr/>
          <p:nvPr/>
        </p:nvSpPr>
        <p:spPr>
          <a:xfrm rot="5400000">
            <a:off x="703728" y="1503221"/>
            <a:ext cx="439164" cy="306272"/>
          </a:xfrm>
          <a:prstGeom prst="bentUp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B07E431-C419-6E83-DAF0-9B972F585ACC}"/>
              </a:ext>
            </a:extLst>
          </p:cNvPr>
          <p:cNvSpPr txBox="1"/>
          <p:nvPr/>
        </p:nvSpPr>
        <p:spPr>
          <a:xfrm>
            <a:off x="1076446" y="1656357"/>
            <a:ext cx="1840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CUESTIONARIOS</a:t>
            </a:r>
          </a:p>
        </p:txBody>
      </p:sp>
      <p:sp>
        <p:nvSpPr>
          <p:cNvPr id="10" name="Rectángulo: esquinas diagonales redondeadas 9">
            <a:extLst>
              <a:ext uri="{FF2B5EF4-FFF2-40B4-BE49-F238E27FC236}">
                <a16:creationId xmlns:a16="http://schemas.microsoft.com/office/drawing/2014/main" id="{C69064C0-43BD-94BB-B6A1-710967BBFF94}"/>
              </a:ext>
            </a:extLst>
          </p:cNvPr>
          <p:cNvSpPr/>
          <p:nvPr/>
        </p:nvSpPr>
        <p:spPr>
          <a:xfrm>
            <a:off x="1335388" y="3483893"/>
            <a:ext cx="4632539" cy="1983567"/>
          </a:xfrm>
          <a:prstGeom prst="round2Diag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BCFCFFE-6BE4-81D3-4325-789FE644711B}"/>
              </a:ext>
            </a:extLst>
          </p:cNvPr>
          <p:cNvSpPr txBox="1"/>
          <p:nvPr/>
        </p:nvSpPr>
        <p:spPr>
          <a:xfrm>
            <a:off x="1477124" y="3567735"/>
            <a:ext cx="482664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EVALUACIÓN INICIAL= EVALUACIÓN FINAL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STAI-6.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Richards- Campbell.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ASE del CAM ICU.</a:t>
            </a:r>
          </a:p>
        </p:txBody>
      </p:sp>
      <p:sp>
        <p:nvSpPr>
          <p:cNvPr id="18" name="Flecha: curvada hacia la derecha 17">
            <a:extLst>
              <a:ext uri="{FF2B5EF4-FFF2-40B4-BE49-F238E27FC236}">
                <a16:creationId xmlns:a16="http://schemas.microsoft.com/office/drawing/2014/main" id="{1D656E36-2E70-BA0C-5FFC-02E87A624A23}"/>
              </a:ext>
            </a:extLst>
          </p:cNvPr>
          <p:cNvSpPr/>
          <p:nvPr/>
        </p:nvSpPr>
        <p:spPr>
          <a:xfrm rot="20965387">
            <a:off x="53896" y="1871925"/>
            <a:ext cx="994090" cy="1983568"/>
          </a:xfrm>
          <a:prstGeom prst="curvedRightArrow">
            <a:avLst>
              <a:gd name="adj1" fmla="val 15615"/>
              <a:gd name="adj2" fmla="val 36997"/>
              <a:gd name="adj3" fmla="val 25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97CFBE3-8228-7FC6-34E2-1006C8E9D414}"/>
              </a:ext>
            </a:extLst>
          </p:cNvPr>
          <p:cNvSpPr txBox="1"/>
          <p:nvPr/>
        </p:nvSpPr>
        <p:spPr>
          <a:xfrm>
            <a:off x="377997" y="2307776"/>
            <a:ext cx="219825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Criterios de inclusión 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  <a:sym typeface="Wingdings 2" panose="05020102010507070707" pitchFamily="18" charset="2"/>
              </a:rPr>
              <a:t></a:t>
            </a:r>
            <a:endParaRPr lang="es-E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Criterios de exclusión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  <a:sym typeface="Wingdings 2" panose="05020102010507070707" pitchFamily="18" charset="2"/>
              </a:rPr>
              <a:t> </a:t>
            </a:r>
            <a:endParaRPr lang="es-E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  <a:p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Consentimiento informado 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  <a:sym typeface="Wingdings 2" panose="05020102010507070707" pitchFamily="18" charset="2"/>
              </a:rPr>
              <a:t></a:t>
            </a:r>
            <a:endParaRPr lang="es-E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 SemiConden" panose="020B0502040204020203" pitchFamily="34" charset="0"/>
            </a:endParaRPr>
          </a:p>
        </p:txBody>
      </p:sp>
      <p:sp>
        <p:nvSpPr>
          <p:cNvPr id="21" name="Rectángulo: esquinas diagonales redondeadas 20">
            <a:extLst>
              <a:ext uri="{FF2B5EF4-FFF2-40B4-BE49-F238E27FC236}">
                <a16:creationId xmlns:a16="http://schemas.microsoft.com/office/drawing/2014/main" id="{5E1D41D5-D2E5-F391-AA0F-BCE495B0F44D}"/>
              </a:ext>
            </a:extLst>
          </p:cNvPr>
          <p:cNvSpPr/>
          <p:nvPr/>
        </p:nvSpPr>
        <p:spPr>
          <a:xfrm>
            <a:off x="6974948" y="1615491"/>
            <a:ext cx="3609925" cy="1983567"/>
          </a:xfrm>
          <a:prstGeom prst="round2Diag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Flecha: curvada hacia la derecha 22">
            <a:extLst>
              <a:ext uri="{FF2B5EF4-FFF2-40B4-BE49-F238E27FC236}">
                <a16:creationId xmlns:a16="http://schemas.microsoft.com/office/drawing/2014/main" id="{B1004E65-FF1D-C14B-C05A-6939D0A2E947}"/>
              </a:ext>
            </a:extLst>
          </p:cNvPr>
          <p:cNvSpPr/>
          <p:nvPr/>
        </p:nvSpPr>
        <p:spPr>
          <a:xfrm rot="14826867">
            <a:off x="6916908" y="3266837"/>
            <a:ext cx="1256183" cy="2661292"/>
          </a:xfrm>
          <a:prstGeom prst="curvedRightArrow">
            <a:avLst>
              <a:gd name="adj1" fmla="val 15615"/>
              <a:gd name="adj2" fmla="val 36997"/>
              <a:gd name="adj3" fmla="val 2500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55FF4BC-4A01-EE09-CB24-CC26F6BF578F}"/>
              </a:ext>
            </a:extLst>
          </p:cNvPr>
          <p:cNvSpPr txBox="1"/>
          <p:nvPr/>
        </p:nvSpPr>
        <p:spPr>
          <a:xfrm>
            <a:off x="7039787" y="1618737"/>
            <a:ext cx="443768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PRE/ POST SESIÓN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s-E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EVA Salud (EuroQoL-5D).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EVA Ansiedad.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EVA Estado de ánimo.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EVA Dolor.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Constantes vitales (FC y TA).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00FD038-BA25-4FF5-16F8-171424021178}"/>
              </a:ext>
            </a:extLst>
          </p:cNvPr>
          <p:cNvSpPr txBox="1"/>
          <p:nvPr/>
        </p:nvSpPr>
        <p:spPr>
          <a:xfrm>
            <a:off x="8386619" y="4557256"/>
            <a:ext cx="19211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 SemiConden" panose="020B0502040204020203" pitchFamily="34" charset="0"/>
              </a:rPr>
              <a:t>Cada 48 horas antes y después de cada sesión…</a:t>
            </a:r>
          </a:p>
        </p:txBody>
      </p:sp>
    </p:spTree>
    <p:extLst>
      <p:ext uri="{BB962C8B-B14F-4D97-AF65-F5344CB8AC3E}">
        <p14:creationId xmlns:p14="http://schemas.microsoft.com/office/powerpoint/2010/main" val="204265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18" grpId="0" animBg="1"/>
      <p:bldP spid="19" grpId="0"/>
      <p:bldP spid="21" grpId="0" animBg="1"/>
      <p:bldP spid="23" grpId="0" animBg="1"/>
      <p:bldP spid="25" grpId="0"/>
      <p:bldP spid="2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BE2A7-C0DB-05EA-832D-5B517154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5C53378A-F51A-7457-02ED-6894579313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3624E50-ED50-506C-8621-277B12AFF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15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C90A8819-21FC-F392-6C23-6491FA3E9E0B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5F01C41-F1CD-2FF9-65BB-574CE0347B41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ACFCF02F-2FF7-2523-EC4E-E17128E5976F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89A8DFA1-30B0-D4C1-DF99-FE445AF2149F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15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BDB898-20C4-3CA6-617A-C4898AF0E54D}"/>
              </a:ext>
            </a:extLst>
          </p:cNvPr>
          <p:cNvSpPr txBox="1"/>
          <p:nvPr/>
        </p:nvSpPr>
        <p:spPr>
          <a:xfrm>
            <a:off x="1746795" y="640453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00000000-0008-0000-0000-000006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55060"/>
              </p:ext>
            </p:extLst>
          </p:nvPr>
        </p:nvGraphicFramePr>
        <p:xfrm>
          <a:off x="602814" y="1333500"/>
          <a:ext cx="4336741" cy="22789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Gráfico 3">
            <a:extLst>
              <a:ext uri="{FF2B5EF4-FFF2-40B4-BE49-F238E27FC236}">
                <a16:creationId xmlns:a16="http://schemas.microsoft.com/office/drawing/2014/main" id="{00000000-0008-0000-0000-0000070000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6795306"/>
              </p:ext>
            </p:extLst>
          </p:nvPr>
        </p:nvGraphicFramePr>
        <p:xfrm>
          <a:off x="602814" y="4057616"/>
          <a:ext cx="4336741" cy="22789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9" name="Imagen 8">
            <a:extLst>
              <a:ext uri="{FF2B5EF4-FFF2-40B4-BE49-F238E27FC236}">
                <a16:creationId xmlns:a16="http://schemas.microsoft.com/office/drawing/2014/main" id="{F35A83A8-1674-3336-88D7-8459C051E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1396" y="1317886"/>
            <a:ext cx="4682970" cy="227899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DFCCD958-654C-53B9-5D72-EA3A6B65C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6526" y="3981620"/>
            <a:ext cx="4578863" cy="2313884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4D3168D-3552-9DD6-7569-E72D376F5285}"/>
              </a:ext>
            </a:extLst>
          </p:cNvPr>
          <p:cNvCxnSpPr/>
          <p:nvPr/>
        </p:nvCxnSpPr>
        <p:spPr>
          <a:xfrm>
            <a:off x="5705475" y="1333500"/>
            <a:ext cx="0" cy="5107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272BFE85-6ADE-6536-65A2-A9B14A25A202}"/>
              </a:ext>
            </a:extLst>
          </p:cNvPr>
          <p:cNvCxnSpPr/>
          <p:nvPr/>
        </p:nvCxnSpPr>
        <p:spPr>
          <a:xfrm flipH="1">
            <a:off x="95250" y="3848100"/>
            <a:ext cx="116631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8171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AED14-8B44-0570-B208-60DAEEBCD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BB2D15EB-F307-7017-F5AF-2CCC909BC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4CDF50CC-B35E-8FA0-258E-D13A3BBEA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16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FB04D306-6088-1363-5277-F5D487A5B7BF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53A89A2-929A-1DEE-CDEA-ADF5208F4F43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153C3B07-DA96-5576-C188-66277270AB33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ABA76098-D5FD-5771-8D5A-B77F0F4DE27E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16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D891DA69-8720-5E7D-A4D5-44F48DD1BD01}"/>
              </a:ext>
            </a:extLst>
          </p:cNvPr>
          <p:cNvSpPr txBox="1"/>
          <p:nvPr/>
        </p:nvSpPr>
        <p:spPr>
          <a:xfrm>
            <a:off x="1746795" y="640453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  <p:sp>
        <p:nvSpPr>
          <p:cNvPr id="10" name="Rectángulo: esquinas redondeadas 9">
            <a:extLst>
              <a:ext uri="{FF2B5EF4-FFF2-40B4-BE49-F238E27FC236}">
                <a16:creationId xmlns:a16="http://schemas.microsoft.com/office/drawing/2014/main" id="{7D182EEF-1903-B9CB-7B38-2ADBF852EA5A}"/>
              </a:ext>
            </a:extLst>
          </p:cNvPr>
          <p:cNvSpPr/>
          <p:nvPr/>
        </p:nvSpPr>
        <p:spPr>
          <a:xfrm>
            <a:off x="1746795" y="1602837"/>
            <a:ext cx="8062944" cy="4164840"/>
          </a:xfrm>
          <a:prstGeom prst="round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71BA3D39-6D70-7861-E98C-1AA9E22454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35" r="3457" b="11939"/>
          <a:stretch>
            <a:fillRect/>
          </a:stretch>
        </p:blipFill>
        <p:spPr>
          <a:xfrm>
            <a:off x="2177312" y="1833358"/>
            <a:ext cx="7210425" cy="359742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36578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65ACD1-3E8D-AF14-95BE-42227B819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67769ECD-7FFD-0073-2FB8-7369A54E2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7B3A344-5C79-A0BB-F6BD-1DDA6ECCD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17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DE9E151A-05FB-7108-B6ED-0C93D7AF7333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42A4BC6-822F-88EF-2212-627BCD87838D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28237AA2-8114-562A-450C-AD206197CFCC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255F1DE7-8422-A339-F520-AB1FEEAA0B7D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17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1B3B22C-C5F7-2E60-F99D-0B153F07EF6E}"/>
              </a:ext>
            </a:extLst>
          </p:cNvPr>
          <p:cNvSpPr txBox="1"/>
          <p:nvPr/>
        </p:nvSpPr>
        <p:spPr>
          <a:xfrm>
            <a:off x="2070579" y="671696"/>
            <a:ext cx="79116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</a:p>
        </p:txBody>
      </p:sp>
      <p:sp>
        <p:nvSpPr>
          <p:cNvPr id="3" name="Flecha: doblada 2">
            <a:extLst>
              <a:ext uri="{FF2B5EF4-FFF2-40B4-BE49-F238E27FC236}">
                <a16:creationId xmlns:a16="http://schemas.microsoft.com/office/drawing/2014/main" id="{BBE3D80A-1540-74E0-4B1F-AF0C008C6B64}"/>
              </a:ext>
            </a:extLst>
          </p:cNvPr>
          <p:cNvSpPr/>
          <p:nvPr/>
        </p:nvSpPr>
        <p:spPr>
          <a:xfrm rot="5400000">
            <a:off x="8348989" y="-825156"/>
            <a:ext cx="523222" cy="4491994"/>
          </a:xfrm>
          <a:prstGeom prst="bent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doblada 4">
            <a:extLst>
              <a:ext uri="{FF2B5EF4-FFF2-40B4-BE49-F238E27FC236}">
                <a16:creationId xmlns:a16="http://schemas.microsoft.com/office/drawing/2014/main" id="{F99718DD-3DC6-27B9-4CF0-67384E6F1B26}"/>
              </a:ext>
            </a:extLst>
          </p:cNvPr>
          <p:cNvSpPr/>
          <p:nvPr/>
        </p:nvSpPr>
        <p:spPr>
          <a:xfrm rot="16200000" flipH="1">
            <a:off x="3066678" y="-588555"/>
            <a:ext cx="539795" cy="4044251"/>
          </a:xfrm>
          <a:prstGeom prst="bentArrow">
            <a:avLst>
              <a:gd name="adj1" fmla="val 25000"/>
              <a:gd name="adj2" fmla="val 28641"/>
              <a:gd name="adj3" fmla="val 25000"/>
              <a:gd name="adj4" fmla="val 43750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BDD31A-057A-082F-6D5B-76F2C268439B}"/>
              </a:ext>
            </a:extLst>
          </p:cNvPr>
          <p:cNvSpPr txBox="1"/>
          <p:nvPr/>
        </p:nvSpPr>
        <p:spPr>
          <a:xfrm>
            <a:off x="-1224232" y="1703468"/>
            <a:ext cx="547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TÉCNICAS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A29DFE0-DA8B-E148-3C8C-D923EC200881}"/>
              </a:ext>
            </a:extLst>
          </p:cNvPr>
          <p:cNvSpPr txBox="1"/>
          <p:nvPr/>
        </p:nvSpPr>
        <p:spPr>
          <a:xfrm>
            <a:off x="7941025" y="1758970"/>
            <a:ext cx="5475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2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CLÍNICAS</a:t>
            </a:r>
          </a:p>
        </p:txBody>
      </p:sp>
      <p:sp>
        <p:nvSpPr>
          <p:cNvPr id="24" name="Flecha: doblada hacia arriba 23">
            <a:extLst>
              <a:ext uri="{FF2B5EF4-FFF2-40B4-BE49-F238E27FC236}">
                <a16:creationId xmlns:a16="http://schemas.microsoft.com/office/drawing/2014/main" id="{27386495-0010-C6E2-F21A-0E7F406CCDC8}"/>
              </a:ext>
            </a:extLst>
          </p:cNvPr>
          <p:cNvSpPr/>
          <p:nvPr/>
        </p:nvSpPr>
        <p:spPr>
          <a:xfrm rot="5400000">
            <a:off x="83571" y="2032675"/>
            <a:ext cx="760980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Flecha: doblada hacia arriba 25">
            <a:extLst>
              <a:ext uri="{FF2B5EF4-FFF2-40B4-BE49-F238E27FC236}">
                <a16:creationId xmlns:a16="http://schemas.microsoft.com/office/drawing/2014/main" id="{F7AF2A39-FC32-AFC7-E61D-D2794EA85376}"/>
              </a:ext>
            </a:extLst>
          </p:cNvPr>
          <p:cNvSpPr/>
          <p:nvPr/>
        </p:nvSpPr>
        <p:spPr>
          <a:xfrm rot="5400000">
            <a:off x="-10171" y="2789927"/>
            <a:ext cx="962383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Flecha: doblada hacia arriba 27">
            <a:extLst>
              <a:ext uri="{FF2B5EF4-FFF2-40B4-BE49-F238E27FC236}">
                <a16:creationId xmlns:a16="http://schemas.microsoft.com/office/drawing/2014/main" id="{03EA9AB6-7118-B490-13E6-4D9CED312AF5}"/>
              </a:ext>
            </a:extLst>
          </p:cNvPr>
          <p:cNvSpPr/>
          <p:nvPr/>
        </p:nvSpPr>
        <p:spPr>
          <a:xfrm rot="5400000">
            <a:off x="-10173" y="3636723"/>
            <a:ext cx="962383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Flecha: doblada hacia arriba 33">
            <a:extLst>
              <a:ext uri="{FF2B5EF4-FFF2-40B4-BE49-F238E27FC236}">
                <a16:creationId xmlns:a16="http://schemas.microsoft.com/office/drawing/2014/main" id="{A9C0AE5C-6F9C-B029-43C5-CEE5804397C1}"/>
              </a:ext>
            </a:extLst>
          </p:cNvPr>
          <p:cNvSpPr/>
          <p:nvPr/>
        </p:nvSpPr>
        <p:spPr>
          <a:xfrm rot="5400000">
            <a:off x="6884211" y="2831861"/>
            <a:ext cx="962383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6" name="Flecha: doblada hacia arriba 35">
            <a:extLst>
              <a:ext uri="{FF2B5EF4-FFF2-40B4-BE49-F238E27FC236}">
                <a16:creationId xmlns:a16="http://schemas.microsoft.com/office/drawing/2014/main" id="{02FB4352-AB04-B26A-678B-FDF119D343EE}"/>
              </a:ext>
            </a:extLst>
          </p:cNvPr>
          <p:cNvSpPr/>
          <p:nvPr/>
        </p:nvSpPr>
        <p:spPr>
          <a:xfrm rot="5400000">
            <a:off x="6919803" y="3663389"/>
            <a:ext cx="890597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8" name="Flecha: doblada hacia arriba 37">
            <a:extLst>
              <a:ext uri="{FF2B5EF4-FFF2-40B4-BE49-F238E27FC236}">
                <a16:creationId xmlns:a16="http://schemas.microsoft.com/office/drawing/2014/main" id="{6E9280B3-ADEB-55D4-6422-C7D79F860212}"/>
              </a:ext>
            </a:extLst>
          </p:cNvPr>
          <p:cNvSpPr/>
          <p:nvPr/>
        </p:nvSpPr>
        <p:spPr>
          <a:xfrm rot="5400000">
            <a:off x="6984585" y="2079372"/>
            <a:ext cx="760978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1" name="Rectángulo: esquinas superiores redondeadas 40">
            <a:extLst>
              <a:ext uri="{FF2B5EF4-FFF2-40B4-BE49-F238E27FC236}">
                <a16:creationId xmlns:a16="http://schemas.microsoft.com/office/drawing/2014/main" id="{2F3BAF93-8D13-E483-DFC0-43349C86942A}"/>
              </a:ext>
            </a:extLst>
          </p:cNvPr>
          <p:cNvSpPr/>
          <p:nvPr/>
        </p:nvSpPr>
        <p:spPr>
          <a:xfrm>
            <a:off x="802925" y="2266588"/>
            <a:ext cx="3124200" cy="453755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E1A844C-2AF5-A1F3-ACF7-2704ACF51507}"/>
              </a:ext>
            </a:extLst>
          </p:cNvPr>
          <p:cNvSpPr txBox="1"/>
          <p:nvPr/>
        </p:nvSpPr>
        <p:spPr>
          <a:xfrm>
            <a:off x="771525" y="2267729"/>
            <a:ext cx="4243125" cy="3407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200" b="1" dirty="0"/>
              <a:t>DISEÑO E IMPLEMENTACIÓN DE UN SISTEMA</a:t>
            </a:r>
          </a:p>
        </p:txBody>
      </p:sp>
      <p:sp>
        <p:nvSpPr>
          <p:cNvPr id="43" name="Rectángulo: esquinas superiores redondeadas 42">
            <a:extLst>
              <a:ext uri="{FF2B5EF4-FFF2-40B4-BE49-F238E27FC236}">
                <a16:creationId xmlns:a16="http://schemas.microsoft.com/office/drawing/2014/main" id="{B0FF8F33-DAF8-B751-583F-CBCE2F8E5D77}"/>
              </a:ext>
            </a:extLst>
          </p:cNvPr>
          <p:cNvSpPr/>
          <p:nvPr/>
        </p:nvSpPr>
        <p:spPr>
          <a:xfrm>
            <a:off x="771526" y="3062419"/>
            <a:ext cx="3890700" cy="597862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488C8C-0D42-E266-C7A1-8FCA2FA35A89}"/>
              </a:ext>
            </a:extLst>
          </p:cNvPr>
          <p:cNvSpPr txBox="1"/>
          <p:nvPr/>
        </p:nvSpPr>
        <p:spPr>
          <a:xfrm>
            <a:off x="786075" y="3120447"/>
            <a:ext cx="38907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DESARROLLO DEL ENTORNO ISLIA COMO APLICACIÓN DE REALIDAD VIRTUAL</a:t>
            </a:r>
            <a:endParaRPr lang="es-ES" sz="1200" b="1" dirty="0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F583F859-74A4-A115-0F03-5729900BBBF3}"/>
              </a:ext>
            </a:extLst>
          </p:cNvPr>
          <p:cNvSpPr/>
          <p:nvPr/>
        </p:nvSpPr>
        <p:spPr>
          <a:xfrm>
            <a:off x="786075" y="4033223"/>
            <a:ext cx="3695700" cy="297836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0E57356-6FEA-6EF9-A21A-8049F3954890}"/>
              </a:ext>
            </a:extLst>
          </p:cNvPr>
          <p:cNvSpPr txBox="1"/>
          <p:nvPr/>
        </p:nvSpPr>
        <p:spPr>
          <a:xfrm>
            <a:off x="805476" y="4019408"/>
            <a:ext cx="594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DESARROLLO DE APLICACIÓN DE RECOGIDA DE DATOS </a:t>
            </a:r>
          </a:p>
        </p:txBody>
      </p:sp>
      <p:sp>
        <p:nvSpPr>
          <p:cNvPr id="47" name="Flecha: doblada hacia arriba 46">
            <a:extLst>
              <a:ext uri="{FF2B5EF4-FFF2-40B4-BE49-F238E27FC236}">
                <a16:creationId xmlns:a16="http://schemas.microsoft.com/office/drawing/2014/main" id="{DCD78F50-22C1-EA35-EB51-B92FE3D1572E}"/>
              </a:ext>
            </a:extLst>
          </p:cNvPr>
          <p:cNvSpPr/>
          <p:nvPr/>
        </p:nvSpPr>
        <p:spPr>
          <a:xfrm rot="5400000">
            <a:off x="-11741" y="4431714"/>
            <a:ext cx="962383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9" name="Rectángulo: esquinas superiores redondeadas 48">
            <a:extLst>
              <a:ext uri="{FF2B5EF4-FFF2-40B4-BE49-F238E27FC236}">
                <a16:creationId xmlns:a16="http://schemas.microsoft.com/office/drawing/2014/main" id="{FADB3C37-B855-4ABB-7959-D2889C749609}"/>
              </a:ext>
            </a:extLst>
          </p:cNvPr>
          <p:cNvSpPr/>
          <p:nvPr/>
        </p:nvSpPr>
        <p:spPr>
          <a:xfrm>
            <a:off x="771525" y="4856696"/>
            <a:ext cx="2828925" cy="297836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143AA945-2F4D-AF18-7D9C-0AB17ECE524B}"/>
              </a:ext>
            </a:extLst>
          </p:cNvPr>
          <p:cNvSpPr txBox="1"/>
          <p:nvPr/>
        </p:nvSpPr>
        <p:spPr>
          <a:xfrm>
            <a:off x="766093" y="4855670"/>
            <a:ext cx="594507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/>
              <a:t>DESARROLLO DE PORTAL DE ESTUDIADOR </a:t>
            </a:r>
          </a:p>
        </p:txBody>
      </p:sp>
      <p:sp>
        <p:nvSpPr>
          <p:cNvPr id="55" name="Rectángulo: esquinas superiores redondeadas 54">
            <a:extLst>
              <a:ext uri="{FF2B5EF4-FFF2-40B4-BE49-F238E27FC236}">
                <a16:creationId xmlns:a16="http://schemas.microsoft.com/office/drawing/2014/main" id="{1D14FEC4-94A7-C69D-139E-A62F913D46CF}"/>
              </a:ext>
            </a:extLst>
          </p:cNvPr>
          <p:cNvSpPr/>
          <p:nvPr/>
        </p:nvSpPr>
        <p:spPr>
          <a:xfrm>
            <a:off x="7702515" y="2265912"/>
            <a:ext cx="4025965" cy="591045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AB27CFB6-995B-82DA-54EA-8F4A8D712636}"/>
              </a:ext>
            </a:extLst>
          </p:cNvPr>
          <p:cNvSpPr txBox="1"/>
          <p:nvPr/>
        </p:nvSpPr>
        <p:spPr>
          <a:xfrm>
            <a:off x="7702515" y="2209847"/>
            <a:ext cx="3875938" cy="617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s-ES" sz="1200" b="1" dirty="0"/>
              <a:t>EL SISTEMA ISLIA DEMOSTRÓ SER FACTIBLE EN EL CONTEXTO DE LA UCI</a:t>
            </a:r>
          </a:p>
        </p:txBody>
      </p:sp>
      <p:sp>
        <p:nvSpPr>
          <p:cNvPr id="57" name="Rectángulo: esquinas superiores redondeadas 56">
            <a:extLst>
              <a:ext uri="{FF2B5EF4-FFF2-40B4-BE49-F238E27FC236}">
                <a16:creationId xmlns:a16="http://schemas.microsoft.com/office/drawing/2014/main" id="{DFD18649-58C3-05CA-5D28-261ADA5D8495}"/>
              </a:ext>
            </a:extLst>
          </p:cNvPr>
          <p:cNvSpPr/>
          <p:nvPr/>
        </p:nvSpPr>
        <p:spPr>
          <a:xfrm>
            <a:off x="7702515" y="3203749"/>
            <a:ext cx="1241593" cy="361562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9109DC1-ACBC-7EA2-0E6C-FD0D371E9574}"/>
              </a:ext>
            </a:extLst>
          </p:cNvPr>
          <p:cNvSpPr txBox="1"/>
          <p:nvPr/>
        </p:nvSpPr>
        <p:spPr>
          <a:xfrm>
            <a:off x="7713427" y="3259199"/>
            <a:ext cx="45375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ACEPTABILIDAD</a:t>
            </a:r>
          </a:p>
        </p:txBody>
      </p:sp>
      <p:sp>
        <p:nvSpPr>
          <p:cNvPr id="59" name="Rectángulo: esquinas superiores redondeadas 58">
            <a:extLst>
              <a:ext uri="{FF2B5EF4-FFF2-40B4-BE49-F238E27FC236}">
                <a16:creationId xmlns:a16="http://schemas.microsoft.com/office/drawing/2014/main" id="{DD2F3354-BD64-0E01-AFB0-0DBAA1ED4D2A}"/>
              </a:ext>
            </a:extLst>
          </p:cNvPr>
          <p:cNvSpPr/>
          <p:nvPr/>
        </p:nvSpPr>
        <p:spPr>
          <a:xfrm>
            <a:off x="7664281" y="4050810"/>
            <a:ext cx="2153974" cy="323093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A6AD460-C20D-9CA6-FC3B-DBC3562CB3E6}"/>
              </a:ext>
            </a:extLst>
          </p:cNvPr>
          <p:cNvSpPr txBox="1"/>
          <p:nvPr/>
        </p:nvSpPr>
        <p:spPr>
          <a:xfrm>
            <a:off x="7663322" y="4072494"/>
            <a:ext cx="443674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</a:t>
            </a:r>
            <a:r>
              <a:rPr lang="es-ES" sz="10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s-E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SEGURO Y TOLERABLE</a:t>
            </a:r>
          </a:p>
        </p:txBody>
      </p:sp>
      <p:sp>
        <p:nvSpPr>
          <p:cNvPr id="61" name="Flecha: doblada hacia arriba 60">
            <a:extLst>
              <a:ext uri="{FF2B5EF4-FFF2-40B4-BE49-F238E27FC236}">
                <a16:creationId xmlns:a16="http://schemas.microsoft.com/office/drawing/2014/main" id="{C0ABB475-5616-A8EC-66E0-EDBFBD6EC453}"/>
              </a:ext>
            </a:extLst>
          </p:cNvPr>
          <p:cNvSpPr/>
          <p:nvPr/>
        </p:nvSpPr>
        <p:spPr>
          <a:xfrm rot="5400000">
            <a:off x="6918234" y="4414184"/>
            <a:ext cx="890597" cy="375444"/>
          </a:xfrm>
          <a:prstGeom prst="bentUpArrow">
            <a:avLst>
              <a:gd name="adj1" fmla="val 7241"/>
              <a:gd name="adj2" fmla="val 30074"/>
              <a:gd name="adj3" fmla="val 22463"/>
            </a:avLst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3" name="Rectángulo: esquinas superiores redondeadas 62">
            <a:extLst>
              <a:ext uri="{FF2B5EF4-FFF2-40B4-BE49-F238E27FC236}">
                <a16:creationId xmlns:a16="http://schemas.microsoft.com/office/drawing/2014/main" id="{1FD8DF90-7B67-B3C1-164B-5A447F6C0E9B}"/>
              </a:ext>
            </a:extLst>
          </p:cNvPr>
          <p:cNvSpPr/>
          <p:nvPr/>
        </p:nvSpPr>
        <p:spPr>
          <a:xfrm>
            <a:off x="7691502" y="4713750"/>
            <a:ext cx="2595022" cy="376830"/>
          </a:xfrm>
          <a:prstGeom prst="round2SameRect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A7E98123-CD74-A8FD-B031-94724C1C59CC}"/>
              </a:ext>
            </a:extLst>
          </p:cNvPr>
          <p:cNvSpPr txBox="1"/>
          <p:nvPr/>
        </p:nvSpPr>
        <p:spPr>
          <a:xfrm>
            <a:off x="7691502" y="4761054"/>
            <a:ext cx="27271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MEJORÍA DEMOSTRADA EN PACIENTES</a:t>
            </a:r>
          </a:p>
        </p:txBody>
      </p:sp>
    </p:spTree>
    <p:extLst>
      <p:ext uri="{BB962C8B-B14F-4D97-AF65-F5344CB8AC3E}">
        <p14:creationId xmlns:p14="http://schemas.microsoft.com/office/powerpoint/2010/main" val="24220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/>
      <p:bldP spid="12" grpId="0"/>
      <p:bldP spid="24" grpId="0" animBg="1"/>
      <p:bldP spid="26" grpId="0" animBg="1"/>
      <p:bldP spid="28" grpId="0" animBg="1"/>
      <p:bldP spid="34" grpId="0" animBg="1"/>
      <p:bldP spid="36" grpId="0" animBg="1"/>
      <p:bldP spid="38" grpId="0" animBg="1"/>
      <p:bldP spid="41" grpId="0" animBg="1"/>
      <p:bldP spid="19" grpId="0"/>
      <p:bldP spid="43" grpId="0" animBg="1"/>
      <p:bldP spid="21" grpId="0"/>
      <p:bldP spid="45" grpId="0" animBg="1"/>
      <p:bldP spid="23" grpId="0"/>
      <p:bldP spid="47" grpId="0" animBg="1"/>
      <p:bldP spid="49" grpId="0" animBg="1"/>
      <p:bldP spid="53" grpId="0"/>
      <p:bldP spid="55" grpId="0" animBg="1"/>
      <p:bldP spid="30" grpId="0"/>
      <p:bldP spid="57" grpId="0" animBg="1"/>
      <p:bldP spid="40" grpId="0"/>
      <p:bldP spid="59" grpId="0" animBg="1"/>
      <p:bldP spid="32" grpId="0"/>
      <p:bldP spid="61" grpId="0" animBg="1"/>
      <p:bldP spid="63" grpId="0" animBg="1"/>
      <p:bldP spid="6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C48A5-3881-37DA-E3F0-BF2A5E703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AB877DEE-97CD-8598-8488-40072680C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6795" y="4556187"/>
            <a:ext cx="1516441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608CE67-D907-605C-3F63-8637F5860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54E8DE-EFAA-4938-8988-810D9E622C65}" type="slidenum">
              <a:rPr lang="es-ES" smtClean="0"/>
              <a:t>18</a:t>
            </a:fld>
            <a:endParaRPr lang="es-ES"/>
          </a:p>
        </p:txBody>
      </p:sp>
      <p:sp>
        <p:nvSpPr>
          <p:cNvPr id="13" name="Triángulo rectángulo 20">
            <a:extLst>
              <a:ext uri="{FF2B5EF4-FFF2-40B4-BE49-F238E27FC236}">
                <a16:creationId xmlns:a16="http://schemas.microsoft.com/office/drawing/2014/main" id="{C4FB1FE2-C6BB-C1D5-D70A-35A8EA77BE56}"/>
              </a:ext>
            </a:extLst>
          </p:cNvPr>
          <p:cNvSpPr/>
          <p:nvPr/>
        </p:nvSpPr>
        <p:spPr>
          <a:xfrm rot="21600000">
            <a:off x="0" y="-29232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rgbClr val="7A3EF2"/>
              </a:solidFill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9C0DB8-365B-2F9E-B866-938D49E3B05E}"/>
              </a:ext>
            </a:extLst>
          </p:cNvPr>
          <p:cNvSpPr txBox="1"/>
          <p:nvPr/>
        </p:nvSpPr>
        <p:spPr>
          <a:xfrm>
            <a:off x="0" y="42264"/>
            <a:ext cx="74980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i="1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15" name="Triángulo rectángulo 20">
            <a:extLst>
              <a:ext uri="{FF2B5EF4-FFF2-40B4-BE49-F238E27FC236}">
                <a16:creationId xmlns:a16="http://schemas.microsoft.com/office/drawing/2014/main" id="{F8272D82-6CDB-7DBB-EA5B-97234426C617}"/>
              </a:ext>
            </a:extLst>
          </p:cNvPr>
          <p:cNvSpPr/>
          <p:nvPr/>
        </p:nvSpPr>
        <p:spPr>
          <a:xfrm rot="10800000">
            <a:off x="-1" y="5895618"/>
            <a:ext cx="12192000" cy="962382"/>
          </a:xfrm>
          <a:custGeom>
            <a:avLst/>
            <a:gdLst>
              <a:gd name="connsiteX0" fmla="*/ 0 w 8785781"/>
              <a:gd name="connsiteY0" fmla="*/ 612742 h 612742"/>
              <a:gd name="connsiteX1" fmla="*/ 0 w 8785781"/>
              <a:gd name="connsiteY1" fmla="*/ 0 h 612742"/>
              <a:gd name="connsiteX2" fmla="*/ 8785781 w 8785781"/>
              <a:gd name="connsiteY2" fmla="*/ 612742 h 612742"/>
              <a:gd name="connsiteX3" fmla="*/ 0 w 8785781"/>
              <a:gd name="connsiteY3" fmla="*/ 612742 h 612742"/>
              <a:gd name="connsiteX0" fmla="*/ 0 w 8795941"/>
              <a:gd name="connsiteY0" fmla="*/ 612742 h 612742"/>
              <a:gd name="connsiteX1" fmla="*/ 0 w 8795941"/>
              <a:gd name="connsiteY1" fmla="*/ 0 h 612742"/>
              <a:gd name="connsiteX2" fmla="*/ 8795941 w 8795941"/>
              <a:gd name="connsiteY2" fmla="*/ 3142 h 612742"/>
              <a:gd name="connsiteX3" fmla="*/ 0 w 8795941"/>
              <a:gd name="connsiteY3" fmla="*/ 612742 h 612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5941" h="612742">
                <a:moveTo>
                  <a:pt x="0" y="612742"/>
                </a:moveTo>
                <a:lnTo>
                  <a:pt x="0" y="0"/>
                </a:lnTo>
                <a:lnTo>
                  <a:pt x="8795941" y="3142"/>
                </a:lnTo>
                <a:lnTo>
                  <a:pt x="0" y="612742"/>
                </a:lnTo>
                <a:close/>
              </a:path>
            </a:pathLst>
          </a:cu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rgbClr val="7A3EF2"/>
              </a:solidFill>
            </a:endParaRPr>
          </a:p>
        </p:txBody>
      </p:sp>
      <p:sp>
        <p:nvSpPr>
          <p:cNvPr id="16" name="Marcador de número de diapositiva 13">
            <a:extLst>
              <a:ext uri="{FF2B5EF4-FFF2-40B4-BE49-F238E27FC236}">
                <a16:creationId xmlns:a16="http://schemas.microsoft.com/office/drawing/2014/main" id="{2FABBBEB-B3B9-F5F7-8FF8-373C703F1B9B}"/>
              </a:ext>
            </a:extLst>
          </p:cNvPr>
          <p:cNvSpPr txBox="1">
            <a:spLocks/>
          </p:cNvSpPr>
          <p:nvPr/>
        </p:nvSpPr>
        <p:spPr>
          <a:xfrm>
            <a:off x="9015162" y="60755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E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dirty="0">
                <a:solidFill>
                  <a:schemeClr val="bg1"/>
                </a:solidFill>
                <a:latin typeface="Arial Rounded MT Bold" panose="020F0704030504030204" pitchFamily="34" charset="0"/>
                <a:cs typeface="Arial" panose="020B0604020202020204" pitchFamily="34" charset="0"/>
              </a:rPr>
              <a:t>18</a:t>
            </a:r>
            <a:endParaRPr lang="es-ES" sz="1600" dirty="0">
              <a:solidFill>
                <a:schemeClr val="bg1"/>
              </a:solidFill>
              <a:latin typeface="Arial Rounded MT Bold" panose="020F07040305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Elipse 3">
            <a:extLst>
              <a:ext uri="{FF2B5EF4-FFF2-40B4-BE49-F238E27FC236}">
                <a16:creationId xmlns:a16="http://schemas.microsoft.com/office/drawing/2014/main" id="{E183B828-2EA5-FF8B-1050-D9912C1A1078}"/>
              </a:ext>
            </a:extLst>
          </p:cNvPr>
          <p:cNvSpPr/>
          <p:nvPr/>
        </p:nvSpPr>
        <p:spPr>
          <a:xfrm>
            <a:off x="2928201" y="2671582"/>
            <a:ext cx="6188364" cy="962384"/>
          </a:xfrm>
          <a:prstGeom prst="ellipse">
            <a:avLst/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BC13A75-E8F6-C0A9-234D-5B91A486A17B}"/>
              </a:ext>
            </a:extLst>
          </p:cNvPr>
          <p:cNvSpPr txBox="1"/>
          <p:nvPr/>
        </p:nvSpPr>
        <p:spPr>
          <a:xfrm>
            <a:off x="3404739" y="2891164"/>
            <a:ext cx="5382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8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CONCLUSIONES GENERALES</a:t>
            </a:r>
          </a:p>
        </p:txBody>
      </p:sp>
      <p:sp>
        <p:nvSpPr>
          <p:cNvPr id="18" name="Globo: flecha hacia arriba 17">
            <a:extLst>
              <a:ext uri="{FF2B5EF4-FFF2-40B4-BE49-F238E27FC236}">
                <a16:creationId xmlns:a16="http://schemas.microsoft.com/office/drawing/2014/main" id="{39E4FF4E-A3D1-6065-6486-7EF0F137B741}"/>
              </a:ext>
            </a:extLst>
          </p:cNvPr>
          <p:cNvSpPr/>
          <p:nvPr/>
        </p:nvSpPr>
        <p:spPr>
          <a:xfrm rot="20748160">
            <a:off x="6895004" y="3526476"/>
            <a:ext cx="2633016" cy="1538150"/>
          </a:xfrm>
          <a:prstGeom prst="upArrowCallout">
            <a:avLst>
              <a:gd name="adj1" fmla="val 16732"/>
              <a:gd name="adj2" fmla="val 14654"/>
              <a:gd name="adj3" fmla="val 25000"/>
              <a:gd name="adj4" fmla="val 50130"/>
            </a:avLst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err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CEIm</a:t>
            </a:r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SUPERADO</a:t>
            </a:r>
          </a:p>
        </p:txBody>
      </p:sp>
      <p:sp>
        <p:nvSpPr>
          <p:cNvPr id="22" name="Globo: flecha hacia arriba 21">
            <a:extLst>
              <a:ext uri="{FF2B5EF4-FFF2-40B4-BE49-F238E27FC236}">
                <a16:creationId xmlns:a16="http://schemas.microsoft.com/office/drawing/2014/main" id="{77955C90-8865-B9F1-D1C5-1D1F874B7CDC}"/>
              </a:ext>
            </a:extLst>
          </p:cNvPr>
          <p:cNvSpPr/>
          <p:nvPr/>
        </p:nvSpPr>
        <p:spPr>
          <a:xfrm rot="957284">
            <a:off x="2436272" y="3528687"/>
            <a:ext cx="2683469" cy="1503861"/>
          </a:xfrm>
          <a:prstGeom prst="upArrowCallout">
            <a:avLst>
              <a:gd name="adj1" fmla="val 16732"/>
              <a:gd name="adj2" fmla="val 14654"/>
              <a:gd name="adj3" fmla="val 25000"/>
              <a:gd name="adj4" fmla="val 50130"/>
            </a:avLst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IMPLEMENTACIÓN EXITOSA</a:t>
            </a:r>
          </a:p>
        </p:txBody>
      </p:sp>
      <p:sp>
        <p:nvSpPr>
          <p:cNvPr id="25" name="Globo: flecha hacia abajo 24">
            <a:extLst>
              <a:ext uri="{FF2B5EF4-FFF2-40B4-BE49-F238E27FC236}">
                <a16:creationId xmlns:a16="http://schemas.microsoft.com/office/drawing/2014/main" id="{1154FC7C-18AF-6023-8633-025AAB2A4B9B}"/>
              </a:ext>
            </a:extLst>
          </p:cNvPr>
          <p:cNvSpPr/>
          <p:nvPr/>
        </p:nvSpPr>
        <p:spPr>
          <a:xfrm rot="18620314">
            <a:off x="612052" y="2083468"/>
            <a:ext cx="3628754" cy="1271470"/>
          </a:xfrm>
          <a:prstGeom prst="downArrowCallout">
            <a:avLst>
              <a:gd name="adj1" fmla="val 18457"/>
              <a:gd name="adj2" fmla="val 18973"/>
              <a:gd name="adj3" fmla="val 12085"/>
              <a:gd name="adj4" fmla="val 56608"/>
            </a:avLst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 CONOCIMIENTOS DE PROGRAMACIÓN</a:t>
            </a:r>
          </a:p>
        </p:txBody>
      </p:sp>
      <p:sp>
        <p:nvSpPr>
          <p:cNvPr id="29" name="Globo: flecha hacia abajo 28">
            <a:extLst>
              <a:ext uri="{FF2B5EF4-FFF2-40B4-BE49-F238E27FC236}">
                <a16:creationId xmlns:a16="http://schemas.microsoft.com/office/drawing/2014/main" id="{F4C3829D-667D-7853-7C64-3D75438B7D85}"/>
              </a:ext>
            </a:extLst>
          </p:cNvPr>
          <p:cNvSpPr/>
          <p:nvPr/>
        </p:nvSpPr>
        <p:spPr>
          <a:xfrm rot="2766524">
            <a:off x="7737097" y="1732182"/>
            <a:ext cx="3628754" cy="1522229"/>
          </a:xfrm>
          <a:prstGeom prst="downArrowCallout">
            <a:avLst>
              <a:gd name="adj1" fmla="val 18457"/>
              <a:gd name="adj2" fmla="val 18973"/>
              <a:gd name="adj3" fmla="val 12085"/>
              <a:gd name="adj4" fmla="val 56608"/>
            </a:avLst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REALIZACIÓN DE UN ESTUDIO IMPLEMENTADO EN UN ENTORNO REAL</a:t>
            </a:r>
          </a:p>
        </p:txBody>
      </p:sp>
      <p:sp>
        <p:nvSpPr>
          <p:cNvPr id="33" name="Globo: flecha hacia abajo 32">
            <a:extLst>
              <a:ext uri="{FF2B5EF4-FFF2-40B4-BE49-F238E27FC236}">
                <a16:creationId xmlns:a16="http://schemas.microsoft.com/office/drawing/2014/main" id="{5293F00F-EC89-316A-721D-3E7EA4524C51}"/>
              </a:ext>
            </a:extLst>
          </p:cNvPr>
          <p:cNvSpPr/>
          <p:nvPr/>
        </p:nvSpPr>
        <p:spPr>
          <a:xfrm>
            <a:off x="4588700" y="1361066"/>
            <a:ext cx="3014597" cy="1271470"/>
          </a:xfrm>
          <a:prstGeom prst="downArrowCallout">
            <a:avLst>
              <a:gd name="adj1" fmla="val 18457"/>
              <a:gd name="adj2" fmla="val 18973"/>
              <a:gd name="adj3" fmla="val 12085"/>
              <a:gd name="adj4" fmla="val 56608"/>
            </a:avLst>
          </a:prstGeom>
          <a:solidFill>
            <a:srgbClr val="FADAFC"/>
          </a:solidFill>
          <a:ln w="38100">
            <a:solidFill>
              <a:srgbClr val="411848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SISTEMA SEGURO, FIABLE Y CONTRASTADO</a:t>
            </a:r>
          </a:p>
        </p:txBody>
      </p:sp>
    </p:spTree>
    <p:extLst>
      <p:ext uri="{BB962C8B-B14F-4D97-AF65-F5344CB8AC3E}">
        <p14:creationId xmlns:p14="http://schemas.microsoft.com/office/powerpoint/2010/main" val="2556410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5" grpId="0" animBg="1"/>
      <p:bldP spid="29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ABE7A2-F412-4636-C142-AF66109F4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AC2453-2277-A430-F14F-3A6CEBF6EF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431" y="1982501"/>
            <a:ext cx="10466894" cy="1234813"/>
          </a:xfrm>
        </p:spPr>
        <p:txBody>
          <a:bodyPr>
            <a:noAutofit/>
          </a:bodyPr>
          <a:lstStyle/>
          <a:p>
            <a:r>
              <a:rPr lang="es-ES" sz="2800" b="1" dirty="0">
                <a:latin typeface="Arial" panose="020B0604020202020204" pitchFamily="34" charset="0"/>
                <a:cs typeface="Arial" panose="020B0604020202020204" pitchFamily="34" charset="0"/>
              </a:rPr>
              <a:t>Realidad Virtual Inmersiva para el Bienestar Psicofisiológico en Pacientes Críticos sin Ventilación Mecánica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EE0010-EDCD-F765-CAED-770198515F5F}"/>
              </a:ext>
            </a:extLst>
          </p:cNvPr>
          <p:cNvSpPr txBox="1"/>
          <p:nvPr/>
        </p:nvSpPr>
        <p:spPr>
          <a:xfrm>
            <a:off x="4269503" y="4227235"/>
            <a:ext cx="380379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Jesús Patiño Casas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Tutor: Irene Portilla Tamarit</a:t>
            </a: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Cotutor: Daniel Ruiz Fernández</a:t>
            </a:r>
          </a:p>
          <a:p>
            <a:pPr algn="ctr"/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ES" sz="2000" dirty="0">
                <a:latin typeface="Arial" panose="020B0604020202020204" pitchFamily="34" charset="0"/>
                <a:cs typeface="Arial" panose="020B0604020202020204" pitchFamily="34" charset="0"/>
              </a:rPr>
              <a:t>2025-2026</a:t>
            </a:r>
          </a:p>
          <a:p>
            <a:endParaRPr lang="es-ES" dirty="0"/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28796D4-058F-1E6C-9FA3-D8E65F742164}"/>
              </a:ext>
            </a:extLst>
          </p:cNvPr>
          <p:cNvCxnSpPr/>
          <p:nvPr/>
        </p:nvCxnSpPr>
        <p:spPr>
          <a:xfrm flipV="1">
            <a:off x="792584" y="3303663"/>
            <a:ext cx="10570588" cy="9427"/>
          </a:xfrm>
          <a:prstGeom prst="line">
            <a:avLst/>
          </a:prstGeom>
          <a:ln w="38100">
            <a:solidFill>
              <a:srgbClr val="7A3EF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5C59A240-FE43-E15F-B3CE-8EB4AB47D82F}"/>
              </a:ext>
            </a:extLst>
          </p:cNvPr>
          <p:cNvSpPr txBox="1"/>
          <p:nvPr/>
        </p:nvSpPr>
        <p:spPr>
          <a:xfrm>
            <a:off x="869568" y="3477775"/>
            <a:ext cx="104936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200" dirty="0">
                <a:solidFill>
                  <a:srgbClr val="7A3EF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TRABAJO DE FIN DE GRADO</a:t>
            </a:r>
          </a:p>
        </p:txBody>
      </p:sp>
      <p:sp>
        <p:nvSpPr>
          <p:cNvPr id="11" name="Marco 10">
            <a:extLst>
              <a:ext uri="{FF2B5EF4-FFF2-40B4-BE49-F238E27FC236}">
                <a16:creationId xmlns:a16="http://schemas.microsoft.com/office/drawing/2014/main" id="{519DB6F6-3328-8EE4-C711-75B8DDB08D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frame">
            <a:avLst>
              <a:gd name="adj1" fmla="val 1503"/>
            </a:avLst>
          </a:prstGeom>
          <a:solidFill>
            <a:srgbClr val="41184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Marco 11">
            <a:extLst>
              <a:ext uri="{FF2B5EF4-FFF2-40B4-BE49-F238E27FC236}">
                <a16:creationId xmlns:a16="http://schemas.microsoft.com/office/drawing/2014/main" id="{917050CC-3959-E97B-931F-2A630DD1E938}"/>
              </a:ext>
            </a:extLst>
          </p:cNvPr>
          <p:cNvSpPr/>
          <p:nvPr/>
        </p:nvSpPr>
        <p:spPr>
          <a:xfrm>
            <a:off x="94269" y="103695"/>
            <a:ext cx="11981468" cy="6664750"/>
          </a:xfrm>
          <a:prstGeom prst="frame">
            <a:avLst>
              <a:gd name="adj1" fmla="val 1503"/>
            </a:avLst>
          </a:prstGeom>
          <a:solidFill>
            <a:srgbClr val="A251D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Marco 12">
            <a:extLst>
              <a:ext uri="{FF2B5EF4-FFF2-40B4-BE49-F238E27FC236}">
                <a16:creationId xmlns:a16="http://schemas.microsoft.com/office/drawing/2014/main" id="{BCBDC242-DD8D-0302-1501-85C7B9B49BFC}"/>
              </a:ext>
            </a:extLst>
          </p:cNvPr>
          <p:cNvSpPr/>
          <p:nvPr/>
        </p:nvSpPr>
        <p:spPr>
          <a:xfrm>
            <a:off x="188538" y="188536"/>
            <a:ext cx="11792930" cy="6476215"/>
          </a:xfrm>
          <a:prstGeom prst="frame">
            <a:avLst>
              <a:gd name="adj1" fmla="val 1503"/>
            </a:avLst>
          </a:prstGeom>
          <a:solidFill>
            <a:srgbClr val="FADA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C8CA6012-1D1F-6432-5E87-69A3DE700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15162" y="6075528"/>
            <a:ext cx="2743200" cy="365125"/>
          </a:xfrm>
        </p:spPr>
        <p:txBody>
          <a:bodyPr/>
          <a:lstStyle/>
          <a:p>
            <a:fld id="{9754E8DE-EFAA-4938-8988-810D9E622C65}" type="slidenum">
              <a:rPr lang="es-ES" sz="2000" smtClean="0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 lang="es-E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2" name="Conector recto 81">
            <a:extLst>
              <a:ext uri="{FF2B5EF4-FFF2-40B4-BE49-F238E27FC236}">
                <a16:creationId xmlns:a16="http://schemas.microsoft.com/office/drawing/2014/main" id="{83C9033F-BB4C-1C3C-DAA8-4EFF88F2A63E}"/>
              </a:ext>
            </a:extLst>
          </p:cNvPr>
          <p:cNvCxnSpPr/>
          <p:nvPr/>
        </p:nvCxnSpPr>
        <p:spPr>
          <a:xfrm flipH="1">
            <a:off x="2131638" y="885078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onector recto 82">
            <a:extLst>
              <a:ext uri="{FF2B5EF4-FFF2-40B4-BE49-F238E27FC236}">
                <a16:creationId xmlns:a16="http://schemas.microsoft.com/office/drawing/2014/main" id="{04FA77CD-A47D-6CAF-1515-BEB1D31476C2}"/>
              </a:ext>
            </a:extLst>
          </p:cNvPr>
          <p:cNvCxnSpPr/>
          <p:nvPr/>
        </p:nvCxnSpPr>
        <p:spPr>
          <a:xfrm flipH="1">
            <a:off x="1962178" y="723078"/>
            <a:ext cx="0" cy="288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Conector recto 83">
            <a:extLst>
              <a:ext uri="{FF2B5EF4-FFF2-40B4-BE49-F238E27FC236}">
                <a16:creationId xmlns:a16="http://schemas.microsoft.com/office/drawing/2014/main" id="{F8D191EA-F016-8A95-B3E6-875B4F59B38D}"/>
              </a:ext>
            </a:extLst>
          </p:cNvPr>
          <p:cNvCxnSpPr/>
          <p:nvPr/>
        </p:nvCxnSpPr>
        <p:spPr>
          <a:xfrm flipH="1">
            <a:off x="2214858" y="1263078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Conector recto 84">
            <a:extLst>
              <a:ext uri="{FF2B5EF4-FFF2-40B4-BE49-F238E27FC236}">
                <a16:creationId xmlns:a16="http://schemas.microsoft.com/office/drawing/2014/main" id="{2128D0D3-32F7-4FAE-96F7-DC6E55D7E3CF}"/>
              </a:ext>
            </a:extLst>
          </p:cNvPr>
          <p:cNvCxnSpPr/>
          <p:nvPr/>
        </p:nvCxnSpPr>
        <p:spPr>
          <a:xfrm flipH="1">
            <a:off x="1961498" y="1515078"/>
            <a:ext cx="0" cy="288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ector recto 85">
            <a:extLst>
              <a:ext uri="{FF2B5EF4-FFF2-40B4-BE49-F238E27FC236}">
                <a16:creationId xmlns:a16="http://schemas.microsoft.com/office/drawing/2014/main" id="{F7767018-8C90-0D59-83CF-F305F304169A}"/>
              </a:ext>
            </a:extLst>
          </p:cNvPr>
          <p:cNvCxnSpPr/>
          <p:nvPr/>
        </p:nvCxnSpPr>
        <p:spPr>
          <a:xfrm flipH="1">
            <a:off x="1437098" y="1263078"/>
            <a:ext cx="288000" cy="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Conector recto 86">
            <a:extLst>
              <a:ext uri="{FF2B5EF4-FFF2-40B4-BE49-F238E27FC236}">
                <a16:creationId xmlns:a16="http://schemas.microsoft.com/office/drawing/2014/main" id="{FBC53BB7-905B-1473-5000-5C1D2A7C3738}"/>
              </a:ext>
            </a:extLst>
          </p:cNvPr>
          <p:cNvCxnSpPr/>
          <p:nvPr/>
        </p:nvCxnSpPr>
        <p:spPr>
          <a:xfrm>
            <a:off x="1602369" y="885078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recto 87">
            <a:extLst>
              <a:ext uri="{FF2B5EF4-FFF2-40B4-BE49-F238E27FC236}">
                <a16:creationId xmlns:a16="http://schemas.microsoft.com/office/drawing/2014/main" id="{1D5C6245-BB67-3DFE-5EC1-B1C7447922D0}"/>
              </a:ext>
            </a:extLst>
          </p:cNvPr>
          <p:cNvCxnSpPr/>
          <p:nvPr/>
        </p:nvCxnSpPr>
        <p:spPr>
          <a:xfrm>
            <a:off x="2141498" y="1439239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1F7B0BEB-A124-FEE3-EE17-EE7E2058BE79}"/>
              </a:ext>
            </a:extLst>
          </p:cNvPr>
          <p:cNvCxnSpPr/>
          <p:nvPr/>
        </p:nvCxnSpPr>
        <p:spPr>
          <a:xfrm flipH="1">
            <a:off x="1573298" y="1415481"/>
            <a:ext cx="216000" cy="21600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89">
            <a:extLst>
              <a:ext uri="{FF2B5EF4-FFF2-40B4-BE49-F238E27FC236}">
                <a16:creationId xmlns:a16="http://schemas.microsoft.com/office/drawing/2014/main" id="{551FF569-A5C8-08FF-C06E-D127CFD48555}"/>
              </a:ext>
            </a:extLst>
          </p:cNvPr>
          <p:cNvCxnSpPr/>
          <p:nvPr/>
        </p:nvCxnSpPr>
        <p:spPr>
          <a:xfrm flipH="1">
            <a:off x="9967323" y="456506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ector recto 90">
            <a:extLst>
              <a:ext uri="{FF2B5EF4-FFF2-40B4-BE49-F238E27FC236}">
                <a16:creationId xmlns:a16="http://schemas.microsoft.com/office/drawing/2014/main" id="{67171929-FDB7-4801-8E44-38C52370EAC1}"/>
              </a:ext>
            </a:extLst>
          </p:cNvPr>
          <p:cNvCxnSpPr/>
          <p:nvPr/>
        </p:nvCxnSpPr>
        <p:spPr>
          <a:xfrm flipH="1">
            <a:off x="9797863" y="440306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ector recto 91">
            <a:extLst>
              <a:ext uri="{FF2B5EF4-FFF2-40B4-BE49-F238E27FC236}">
                <a16:creationId xmlns:a16="http://schemas.microsoft.com/office/drawing/2014/main" id="{62C94A0C-1503-F8B7-405F-87F0A77BF65C}"/>
              </a:ext>
            </a:extLst>
          </p:cNvPr>
          <p:cNvCxnSpPr/>
          <p:nvPr/>
        </p:nvCxnSpPr>
        <p:spPr>
          <a:xfrm flipH="1">
            <a:off x="10050543" y="494306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ector recto 92">
            <a:extLst>
              <a:ext uri="{FF2B5EF4-FFF2-40B4-BE49-F238E27FC236}">
                <a16:creationId xmlns:a16="http://schemas.microsoft.com/office/drawing/2014/main" id="{D933FB90-6158-5DBA-E435-5364ACAC0639}"/>
              </a:ext>
            </a:extLst>
          </p:cNvPr>
          <p:cNvCxnSpPr/>
          <p:nvPr/>
        </p:nvCxnSpPr>
        <p:spPr>
          <a:xfrm flipH="1">
            <a:off x="9797183" y="519506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Conector recto 93">
            <a:extLst>
              <a:ext uri="{FF2B5EF4-FFF2-40B4-BE49-F238E27FC236}">
                <a16:creationId xmlns:a16="http://schemas.microsoft.com/office/drawing/2014/main" id="{CD58E2E3-6A5E-D017-0382-5FAA9E40A63E}"/>
              </a:ext>
            </a:extLst>
          </p:cNvPr>
          <p:cNvCxnSpPr/>
          <p:nvPr/>
        </p:nvCxnSpPr>
        <p:spPr>
          <a:xfrm flipH="1">
            <a:off x="9272783" y="494306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ector recto 94">
            <a:extLst>
              <a:ext uri="{FF2B5EF4-FFF2-40B4-BE49-F238E27FC236}">
                <a16:creationId xmlns:a16="http://schemas.microsoft.com/office/drawing/2014/main" id="{549ADD4E-17C6-1C6F-AF40-ACD25176DA62}"/>
              </a:ext>
            </a:extLst>
          </p:cNvPr>
          <p:cNvCxnSpPr/>
          <p:nvPr/>
        </p:nvCxnSpPr>
        <p:spPr>
          <a:xfrm>
            <a:off x="9438054" y="456506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Conector recto 95">
            <a:extLst>
              <a:ext uri="{FF2B5EF4-FFF2-40B4-BE49-F238E27FC236}">
                <a16:creationId xmlns:a16="http://schemas.microsoft.com/office/drawing/2014/main" id="{81D016F6-B5CB-E1F9-D3AB-42D8E3683C4C}"/>
              </a:ext>
            </a:extLst>
          </p:cNvPr>
          <p:cNvCxnSpPr/>
          <p:nvPr/>
        </p:nvCxnSpPr>
        <p:spPr>
          <a:xfrm>
            <a:off x="9977183" y="5119230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ector recto 96">
            <a:extLst>
              <a:ext uri="{FF2B5EF4-FFF2-40B4-BE49-F238E27FC236}">
                <a16:creationId xmlns:a16="http://schemas.microsoft.com/office/drawing/2014/main" id="{8526A742-B8DA-8104-C490-59DD1329BCF0}"/>
              </a:ext>
            </a:extLst>
          </p:cNvPr>
          <p:cNvCxnSpPr/>
          <p:nvPr/>
        </p:nvCxnSpPr>
        <p:spPr>
          <a:xfrm flipH="1">
            <a:off x="9408983" y="5095472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>
            <a:extLst>
              <a:ext uri="{FF2B5EF4-FFF2-40B4-BE49-F238E27FC236}">
                <a16:creationId xmlns:a16="http://schemas.microsoft.com/office/drawing/2014/main" id="{B9F09E19-8651-6A99-768D-674EE1940A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9605" y="334098"/>
            <a:ext cx="3059958" cy="1394078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0F2CC89-584B-DBBB-C755-9A42C48C0F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411" y="4110309"/>
            <a:ext cx="1675373" cy="1675373"/>
          </a:xfrm>
          <a:prstGeom prst="rect">
            <a:avLst/>
          </a:prstGeom>
        </p:spPr>
      </p:pic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E68C653D-5365-D69C-693A-B10F4EDCF444}"/>
              </a:ext>
            </a:extLst>
          </p:cNvPr>
          <p:cNvCxnSpPr/>
          <p:nvPr/>
        </p:nvCxnSpPr>
        <p:spPr>
          <a:xfrm flipH="1">
            <a:off x="7548657" y="88047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F6D43689-21D8-D972-8331-909302BC49F3}"/>
              </a:ext>
            </a:extLst>
          </p:cNvPr>
          <p:cNvCxnSpPr/>
          <p:nvPr/>
        </p:nvCxnSpPr>
        <p:spPr>
          <a:xfrm flipH="1">
            <a:off x="7379197" y="71847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D6D41218-1B11-6A8C-8932-A2C53FC74100}"/>
              </a:ext>
            </a:extLst>
          </p:cNvPr>
          <p:cNvCxnSpPr/>
          <p:nvPr/>
        </p:nvCxnSpPr>
        <p:spPr>
          <a:xfrm flipH="1">
            <a:off x="7631877" y="125847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2544E67D-63FB-3BC0-1AAD-455EFD549A7C}"/>
              </a:ext>
            </a:extLst>
          </p:cNvPr>
          <p:cNvCxnSpPr/>
          <p:nvPr/>
        </p:nvCxnSpPr>
        <p:spPr>
          <a:xfrm flipH="1">
            <a:off x="7378517" y="1510479"/>
            <a:ext cx="0" cy="288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C61CD6B4-9E80-F5E3-C711-F174C1929B5A}"/>
              </a:ext>
            </a:extLst>
          </p:cNvPr>
          <p:cNvCxnSpPr/>
          <p:nvPr/>
        </p:nvCxnSpPr>
        <p:spPr>
          <a:xfrm flipH="1">
            <a:off x="6854117" y="1258479"/>
            <a:ext cx="288000" cy="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1974A81F-D214-684C-252B-905F25F1FBBD}"/>
              </a:ext>
            </a:extLst>
          </p:cNvPr>
          <p:cNvCxnSpPr/>
          <p:nvPr/>
        </p:nvCxnSpPr>
        <p:spPr>
          <a:xfrm>
            <a:off x="7019388" y="880479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13005F0F-A71C-9769-B514-26C565FDD821}"/>
              </a:ext>
            </a:extLst>
          </p:cNvPr>
          <p:cNvCxnSpPr/>
          <p:nvPr/>
        </p:nvCxnSpPr>
        <p:spPr>
          <a:xfrm>
            <a:off x="7558517" y="1434640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63EFCE95-5CFC-E8C7-C0F9-818CB35AA626}"/>
              </a:ext>
            </a:extLst>
          </p:cNvPr>
          <p:cNvCxnSpPr/>
          <p:nvPr/>
        </p:nvCxnSpPr>
        <p:spPr>
          <a:xfrm flipH="1">
            <a:off x="6990317" y="1410882"/>
            <a:ext cx="216000" cy="216000"/>
          </a:xfrm>
          <a:prstGeom prst="line">
            <a:avLst/>
          </a:prstGeom>
          <a:ln w="28575">
            <a:solidFill>
              <a:srgbClr val="41184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89658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17006</TotalTime>
  <Words>962</Words>
  <Application>Microsoft Office PowerPoint</Application>
  <PresentationFormat>Panorámica</PresentationFormat>
  <Paragraphs>207</Paragraphs>
  <Slides>19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6" baseType="lpstr">
      <vt:lpstr>Arial</vt:lpstr>
      <vt:lpstr>Arial Rounded MT Bold</vt:lpstr>
      <vt:lpstr>Bahnschrift SemiBold SemiConden</vt:lpstr>
      <vt:lpstr>Calibri</vt:lpstr>
      <vt:lpstr>Calibri Light</vt:lpstr>
      <vt:lpstr>Wingdings</vt:lpstr>
      <vt:lpstr>Tema de Office</vt:lpstr>
      <vt:lpstr>Realidad Virtual Inmersiva para el Bienestar Psicofisiológico en Pacientes Críticos sin Ventilación Mecánica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Realidad Virtual Inmersiva para el Bienestar Psicofisiológico en Pacientes Críticos sin Ventilación Mecánica</vt:lpstr>
    </vt:vector>
  </TitlesOfParts>
  <Company>Dixguel03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Jesús Patiño Casas</cp:lastModifiedBy>
  <cp:revision>106</cp:revision>
  <dcterms:created xsi:type="dcterms:W3CDTF">2026-06-15T15:31:24Z</dcterms:created>
  <dcterms:modified xsi:type="dcterms:W3CDTF">2026-07-23T09:58:15Z</dcterms:modified>
</cp:coreProperties>
</file>